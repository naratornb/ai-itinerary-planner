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14"/>
    <p:restoredTop sz="94610"/>
  </p:normalViewPr>
  <p:slideViewPr>
    <p:cSldViewPr snapToGrid="0" snapToObjects="1">
      <p:cViewPr varScale="1">
        <p:scale>
          <a:sx n="185" d="100"/>
          <a:sy n="185" d="100"/>
        </p:scale>
        <p:origin x="18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626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B8DEE"/>
          </a:solidFill>
          <a:ln w="12700">
            <a:solidFill>
              <a:srgbClr val="5B8DE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Flight Centre Influencer Marketplace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3C5FD"/>
                </a:solidFill>
              </a:rPr>
              <a:t>Database Architecture &amp; System Design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2377440"/>
            <a:ext cx="2743200" cy="27432"/>
          </a:xfrm>
          <a:prstGeom prst="rect">
            <a:avLst/>
          </a:prstGeom>
          <a:solidFill>
            <a:srgbClr val="3A3F5C"/>
          </a:solidFill>
          <a:ln w="12700">
            <a:solidFill>
              <a:srgbClr val="3A3F5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1280160" y="260604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1E2130"/>
          </a:solidFill>
          <a:ln w="15240">
            <a:solidFill>
              <a:srgbClr val="5B8DE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1280160" y="2606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</a:rPr>
              <a:t>ERD Diagram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11880" y="260604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1E2130"/>
          </a:solidFill>
          <a:ln w="1524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3611880" y="2606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EAD4"/>
                </a:solidFill>
              </a:rPr>
              <a:t>State Machine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260604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1E2130"/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943600" y="2606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</a:rPr>
              <a:t>System Architecture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Group 51  ·  QUT Industrial Project  ·  Flight Centre AI Itinerary Platform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5B8DEE"/>
          </a:solidFill>
          <a:ln w="12700">
            <a:solidFill>
              <a:srgbClr val="5B8DE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Was Revised — Gap Analysis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</a:rPr>
              <a:t>Original 4 tables → Revised 13 tables to cover every functional requirement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3840480" cy="320040"/>
          </a:xfrm>
          <a:prstGeom prst="rect">
            <a:avLst/>
          </a:prstGeom>
          <a:solidFill>
            <a:srgbClr val="3B0000"/>
          </a:solidFill>
          <a:ln w="1905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22860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</a:rPr>
              <a:t>BEFORE  —  4 Tables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3657600" cy="384048"/>
          </a:xfrm>
          <a:prstGeom prst="rect">
            <a:avLst/>
          </a:prstGeom>
          <a:solidFill>
            <a:srgbClr val="1F0F0F"/>
          </a:solidFill>
          <a:ln w="1016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320040" y="13258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</a:rPr>
              <a:t>users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801368"/>
            <a:ext cx="3657600" cy="384048"/>
          </a:xfrm>
          <a:prstGeom prst="rect">
            <a:avLst/>
          </a:prstGeom>
          <a:solidFill>
            <a:srgbClr val="1F0F0F"/>
          </a:solidFill>
          <a:ln w="1016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320040" y="18013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</a:rPr>
              <a:t>flights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276856"/>
            <a:ext cx="3657600" cy="384048"/>
          </a:xfrm>
          <a:prstGeom prst="rect">
            <a:avLst/>
          </a:prstGeom>
          <a:solidFill>
            <a:srgbClr val="1F0F0F"/>
          </a:solidFill>
          <a:ln w="1016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320040" y="227685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</a:rPr>
              <a:t>hotels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752344"/>
            <a:ext cx="3657600" cy="384048"/>
          </a:xfrm>
          <a:prstGeom prst="rect">
            <a:avLst/>
          </a:prstGeom>
          <a:solidFill>
            <a:srgbClr val="1F0F0F"/>
          </a:solidFill>
          <a:ln w="1016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320040" y="275234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</a:rPr>
              <a:t>activities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32918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87171"/>
                </a:solidFill>
              </a:rPr>
              <a:t>✗  No travel_packages — core entity missing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3575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87171"/>
                </a:solidFill>
              </a:rPr>
              <a:t>✗  No role field in users (influencer/admin/customer)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" y="3858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87171"/>
                </a:solidFill>
              </a:rPr>
              <a:t>✗  No package approval workflow tables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41422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87171"/>
                </a:solidFill>
              </a:rPr>
              <a:t>✗  No media upload tracking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0040" y="44256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87171"/>
                </a:solidFill>
              </a:rPr>
              <a:t>✗  No AI suggestion logging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0040" y="4709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87171"/>
                </a:solidFill>
              </a:rPr>
              <a:t>✗  departure_datetime typed as text (not timestamptz)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0" y="914400"/>
            <a:ext cx="4297680" cy="320040"/>
          </a:xfrm>
          <a:prstGeom prst="rect">
            <a:avLst/>
          </a:prstGeom>
          <a:solidFill>
            <a:srgbClr val="052E16"/>
          </a:solidFill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4572000" y="9144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</a:rPr>
              <a:t>AFTER  —  13 Tables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1325880"/>
            <a:ext cx="4206240" cy="301752"/>
          </a:xfrm>
          <a:prstGeom prst="rect">
            <a:avLst/>
          </a:prstGeom>
          <a:solidFill>
            <a:srgbClr val="111827"/>
          </a:solidFill>
          <a:ln w="1016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4709160" y="132588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</a:rPr>
              <a:t>users  +  influencer_profiles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20840" y="1325880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Role-aware, creator extended data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617720" y="1682496"/>
            <a:ext cx="4206240" cy="301752"/>
          </a:xfrm>
          <a:prstGeom prst="rect">
            <a:avLst/>
          </a:prstGeom>
          <a:solidFill>
            <a:srgbClr val="111827"/>
          </a:solidFill>
          <a:ln w="10160">
            <a:solidFill>
              <a:srgbClr val="5B8DE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4709160" y="1682496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B8DEE"/>
                </a:solidFill>
              </a:rPr>
              <a:t>travel_packages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720840" y="1682496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Core entity — ADDED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617720" y="2039112"/>
            <a:ext cx="4206240" cy="301752"/>
          </a:xfrm>
          <a:prstGeom prst="rect">
            <a:avLst/>
          </a:prstGeom>
          <a:solidFill>
            <a:srgbClr val="111827"/>
          </a:solidFill>
          <a:ln w="1016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4709160" y="203911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</a:rPr>
              <a:t>package_flights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20840" y="2039112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Junction — ADDED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617720" y="2395728"/>
            <a:ext cx="4206240" cy="301752"/>
          </a:xfrm>
          <a:prstGeom prst="rect">
            <a:avLst/>
          </a:prstGeom>
          <a:solidFill>
            <a:srgbClr val="111827"/>
          </a:solidFill>
          <a:ln w="1016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4709160" y="239572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</a:rPr>
              <a:t>package_hotels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720840" y="2395728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Junction — ADDED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617720" y="2752344"/>
            <a:ext cx="4206240" cy="301752"/>
          </a:xfrm>
          <a:prstGeom prst="rect">
            <a:avLst/>
          </a:prstGeom>
          <a:solidFill>
            <a:srgbClr val="111827"/>
          </a:solidFill>
          <a:ln w="1016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Text 33"/>
          <p:cNvSpPr/>
          <p:nvPr/>
        </p:nvSpPr>
        <p:spPr>
          <a:xfrm>
            <a:off x="4709160" y="275234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</a:rPr>
              <a:t>package_activities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20840" y="2752344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Junction — ADDED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617720" y="3108960"/>
            <a:ext cx="4206240" cy="301752"/>
          </a:xfrm>
          <a:prstGeom prst="rect">
            <a:avLst/>
          </a:prstGeom>
          <a:solidFill>
            <a:srgbClr val="111827"/>
          </a:solidFill>
          <a:ln w="1016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8" name="Text 36"/>
          <p:cNvSpPr/>
          <p:nvPr/>
        </p:nvSpPr>
        <p:spPr>
          <a:xfrm>
            <a:off x="4709160" y="310896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78BFA"/>
                </a:solidFill>
              </a:rPr>
              <a:t>flights  /  hotels  /  activities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720840" y="3108960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Enhanced with new fields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17720" y="3465576"/>
            <a:ext cx="4206240" cy="301752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1" name="Text 39"/>
          <p:cNvSpPr/>
          <p:nvPr/>
        </p:nvSpPr>
        <p:spPr>
          <a:xfrm>
            <a:off x="4709160" y="3465576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9E0B"/>
                </a:solidFill>
              </a:rPr>
              <a:t>package_approvals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20840" y="3465576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Admin workflow — ADDED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617720" y="3822192"/>
            <a:ext cx="4206240" cy="301752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4" name="Text 42"/>
          <p:cNvSpPr/>
          <p:nvPr/>
        </p:nvSpPr>
        <p:spPr>
          <a:xfrm>
            <a:off x="4709160" y="382219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9E0B"/>
                </a:solidFill>
              </a:rPr>
              <a:t>ai_suggestions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720840" y="3822192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AI log — ADDED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617720" y="4178808"/>
            <a:ext cx="4206240" cy="301752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7" name="Text 45"/>
          <p:cNvSpPr/>
          <p:nvPr/>
        </p:nvSpPr>
        <p:spPr>
          <a:xfrm>
            <a:off x="4709160" y="417880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9E0B"/>
                </a:solidFill>
              </a:rPr>
              <a:t>package_media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720840" y="4178808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Photo/video — ADDED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617720" y="4535424"/>
            <a:ext cx="4206240" cy="301752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0" name="Text 48"/>
          <p:cNvSpPr/>
          <p:nvPr/>
        </p:nvSpPr>
        <p:spPr>
          <a:xfrm>
            <a:off x="4709160" y="453542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9E0B"/>
                </a:solidFill>
              </a:rPr>
              <a:t>package_reviews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720840" y="4535424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Marketplace ratings — ADDED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ERD — User &amp; Package Core  (1/2)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43891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Entities, attributes and relationships for the user layer and core travel package workflow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37160" y="713232"/>
            <a:ext cx="1691640" cy="246888"/>
          </a:xfrm>
          <a:prstGeom prst="rect">
            <a:avLst/>
          </a:prstGeom>
          <a:solidFill>
            <a:srgbClr val="0F1E35"/>
          </a:solidFill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137160" y="713232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3C5FD"/>
                </a:solidFill>
              </a:rPr>
              <a:t>users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7160" y="960120"/>
            <a:ext cx="1691640" cy="169164"/>
          </a:xfrm>
          <a:prstGeom prst="rect">
            <a:avLst/>
          </a:prstGeom>
          <a:solidFill>
            <a:srgbClr val="111827"/>
          </a:solidFill>
          <a:ln w="762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182880" y="960120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PK  id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202893" y="960120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int8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137160" y="1129284"/>
            <a:ext cx="1691640" cy="169164"/>
          </a:xfrm>
          <a:prstGeom prst="rect">
            <a:avLst/>
          </a:prstGeom>
          <a:solidFill>
            <a:srgbClr val="111827"/>
          </a:solidFill>
          <a:ln w="762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182880" y="1129284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email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202893" y="1129284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137160" y="1298448"/>
            <a:ext cx="1691640" cy="169164"/>
          </a:xfrm>
          <a:prstGeom prst="rect">
            <a:avLst/>
          </a:prstGeom>
          <a:solidFill>
            <a:srgbClr val="111827"/>
          </a:solidFill>
          <a:ln w="762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182880" y="1298448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full_name  NEW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202893" y="1298448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137160" y="1467612"/>
            <a:ext cx="1691640" cy="169164"/>
          </a:xfrm>
          <a:prstGeom prst="rect">
            <a:avLst/>
          </a:prstGeom>
          <a:solidFill>
            <a:srgbClr val="111827"/>
          </a:solidFill>
          <a:ln w="762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182880" y="1467612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role  NEW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202893" y="1467612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137160" y="1636776"/>
            <a:ext cx="1691640" cy="169164"/>
          </a:xfrm>
          <a:prstGeom prst="rect">
            <a:avLst/>
          </a:prstGeom>
          <a:solidFill>
            <a:srgbClr val="111827"/>
          </a:solidFill>
          <a:ln w="762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182880" y="1636776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avatar_url  NEW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202893" y="1636776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137160" y="1805940"/>
            <a:ext cx="1691640" cy="169164"/>
          </a:xfrm>
          <a:prstGeom prst="rect">
            <a:avLst/>
          </a:prstGeom>
          <a:solidFill>
            <a:srgbClr val="111827"/>
          </a:solidFill>
          <a:ln w="762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182880" y="1805940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is_admin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202893" y="1805940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bool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137160" y="1975104"/>
            <a:ext cx="1691640" cy="169164"/>
          </a:xfrm>
          <a:prstGeom prst="rect">
            <a:avLst/>
          </a:prstGeom>
          <a:solidFill>
            <a:srgbClr val="111827"/>
          </a:solidFill>
          <a:ln w="762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182880" y="1975104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created_at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202893" y="1975104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timestamptz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137160" y="2423160"/>
            <a:ext cx="1691640" cy="246888"/>
          </a:xfrm>
          <a:prstGeom prst="rect">
            <a:avLst/>
          </a:prstGeom>
          <a:solidFill>
            <a:srgbClr val="180838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Text 26"/>
          <p:cNvSpPr/>
          <p:nvPr/>
        </p:nvSpPr>
        <p:spPr>
          <a:xfrm>
            <a:off x="137160" y="242316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4B5FD"/>
                </a:solidFill>
              </a:rPr>
              <a:t>influencer_profiles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37160" y="2670048"/>
            <a:ext cx="1691640" cy="169164"/>
          </a:xfrm>
          <a:prstGeom prst="rect">
            <a:avLst/>
          </a:prstGeom>
          <a:solidFill>
            <a:srgbClr val="100820"/>
          </a:solidFill>
          <a:ln w="762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182880" y="2670048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PK  profile_id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202893" y="2670048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uuid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137160" y="2839212"/>
            <a:ext cx="1691640" cy="169164"/>
          </a:xfrm>
          <a:prstGeom prst="rect">
            <a:avLst/>
          </a:prstGeom>
          <a:solidFill>
            <a:srgbClr val="100820"/>
          </a:solidFill>
          <a:ln w="762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3" name="Text 31"/>
          <p:cNvSpPr/>
          <p:nvPr/>
        </p:nvSpPr>
        <p:spPr>
          <a:xfrm>
            <a:off x="182880" y="2839212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FK  user_id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202893" y="2839212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int8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137160" y="3008376"/>
            <a:ext cx="1691640" cy="169164"/>
          </a:xfrm>
          <a:prstGeom prst="rect">
            <a:avLst/>
          </a:prstGeom>
          <a:solidFill>
            <a:srgbClr val="100820"/>
          </a:solidFill>
          <a:ln w="762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6" name="Text 34"/>
          <p:cNvSpPr/>
          <p:nvPr/>
        </p:nvSpPr>
        <p:spPr>
          <a:xfrm>
            <a:off x="182880" y="3008376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bio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202893" y="3008376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137160" y="3177540"/>
            <a:ext cx="1691640" cy="169164"/>
          </a:xfrm>
          <a:prstGeom prst="rect">
            <a:avLst/>
          </a:prstGeom>
          <a:solidFill>
            <a:srgbClr val="100820"/>
          </a:solidFill>
          <a:ln w="762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9" name="Text 37"/>
          <p:cNvSpPr/>
          <p:nvPr/>
        </p:nvSpPr>
        <p:spPr>
          <a:xfrm>
            <a:off x="182880" y="3177540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social_handle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202893" y="3177540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137160" y="3346704"/>
            <a:ext cx="1691640" cy="169164"/>
          </a:xfrm>
          <a:prstGeom prst="rect">
            <a:avLst/>
          </a:prstGeom>
          <a:solidFill>
            <a:srgbClr val="100820"/>
          </a:solidFill>
          <a:ln w="762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2" name="Text 40"/>
          <p:cNvSpPr/>
          <p:nvPr/>
        </p:nvSpPr>
        <p:spPr>
          <a:xfrm>
            <a:off x="182880" y="3346704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follower_count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202893" y="3346704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int8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137160" y="3515868"/>
            <a:ext cx="1691640" cy="169164"/>
          </a:xfrm>
          <a:prstGeom prst="rect">
            <a:avLst/>
          </a:prstGeom>
          <a:solidFill>
            <a:srgbClr val="100820"/>
          </a:solidFill>
          <a:ln w="762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5" name="Text 43"/>
          <p:cNvSpPr/>
          <p:nvPr/>
        </p:nvSpPr>
        <p:spPr>
          <a:xfrm>
            <a:off x="182880" y="3515868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verified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202893" y="3515868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bool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1965960" y="713232"/>
            <a:ext cx="2011680" cy="246888"/>
          </a:xfrm>
          <a:prstGeom prst="rect">
            <a:avLst/>
          </a:prstGeom>
          <a:solidFill>
            <a:srgbClr val="1A2E5A"/>
          </a:solidFill>
          <a:ln w="19050">
            <a:solidFill>
              <a:srgbClr val="5B8DE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8" name="Text 46"/>
          <p:cNvSpPr/>
          <p:nvPr/>
        </p:nvSpPr>
        <p:spPr>
          <a:xfrm>
            <a:off x="1965960" y="71323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3C5FD"/>
                </a:solidFill>
              </a:rPr>
              <a:t>travel_packages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965960" y="960120"/>
            <a:ext cx="2011680" cy="169164"/>
          </a:xfrm>
          <a:prstGeom prst="rect">
            <a:avLst/>
          </a:prstGeom>
          <a:solidFill>
            <a:srgbClr val="0F172A"/>
          </a:solidFill>
          <a:ln w="7620">
            <a:solidFill>
              <a:srgbClr val="5B8DE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0" name="Text 48"/>
          <p:cNvSpPr/>
          <p:nvPr/>
        </p:nvSpPr>
        <p:spPr>
          <a:xfrm>
            <a:off x="2011680" y="960120"/>
            <a:ext cx="124724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PK  package_id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233318" y="960120"/>
            <a:ext cx="72420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uuid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1965960" y="1129284"/>
            <a:ext cx="2011680" cy="169164"/>
          </a:xfrm>
          <a:prstGeom prst="rect">
            <a:avLst/>
          </a:prstGeom>
          <a:solidFill>
            <a:srgbClr val="0F172A"/>
          </a:solidFill>
          <a:ln w="7620">
            <a:solidFill>
              <a:srgbClr val="5B8DE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3" name="Text 51"/>
          <p:cNvSpPr/>
          <p:nvPr/>
        </p:nvSpPr>
        <p:spPr>
          <a:xfrm>
            <a:off x="2011680" y="1129284"/>
            <a:ext cx="124724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FK  creator_id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233318" y="1129284"/>
            <a:ext cx="72420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int8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1965960" y="1298448"/>
            <a:ext cx="2011680" cy="169164"/>
          </a:xfrm>
          <a:prstGeom prst="rect">
            <a:avLst/>
          </a:prstGeom>
          <a:solidFill>
            <a:srgbClr val="0F172A"/>
          </a:solidFill>
          <a:ln w="7620">
            <a:solidFill>
              <a:srgbClr val="5B8DE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6" name="Text 54"/>
          <p:cNvSpPr/>
          <p:nvPr/>
        </p:nvSpPr>
        <p:spPr>
          <a:xfrm>
            <a:off x="2011680" y="1298448"/>
            <a:ext cx="124724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title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233318" y="1298448"/>
            <a:ext cx="72420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1965960" y="1467612"/>
            <a:ext cx="2011680" cy="169164"/>
          </a:xfrm>
          <a:prstGeom prst="rect">
            <a:avLst/>
          </a:prstGeom>
          <a:solidFill>
            <a:srgbClr val="0F172A"/>
          </a:solidFill>
          <a:ln w="7620">
            <a:solidFill>
              <a:srgbClr val="5B8DE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9" name="Text 57"/>
          <p:cNvSpPr/>
          <p:nvPr/>
        </p:nvSpPr>
        <p:spPr>
          <a:xfrm>
            <a:off x="2011680" y="1467612"/>
            <a:ext cx="124724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description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3233318" y="1467612"/>
            <a:ext cx="72420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1965960" y="1636776"/>
            <a:ext cx="2011680" cy="169164"/>
          </a:xfrm>
          <a:prstGeom prst="rect">
            <a:avLst/>
          </a:prstGeom>
          <a:solidFill>
            <a:srgbClr val="0F172A"/>
          </a:solidFill>
          <a:ln w="7620">
            <a:solidFill>
              <a:srgbClr val="5B8DE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2" name="Text 60"/>
          <p:cNvSpPr/>
          <p:nvPr/>
        </p:nvSpPr>
        <p:spPr>
          <a:xfrm>
            <a:off x="2011680" y="1636776"/>
            <a:ext cx="124724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status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3233318" y="1636776"/>
            <a:ext cx="72420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1965960" y="1805940"/>
            <a:ext cx="2011680" cy="169164"/>
          </a:xfrm>
          <a:prstGeom prst="rect">
            <a:avLst/>
          </a:prstGeom>
          <a:solidFill>
            <a:srgbClr val="0F172A"/>
          </a:solidFill>
          <a:ln w="7620">
            <a:solidFill>
              <a:srgbClr val="5B8DE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5" name="Text 63"/>
          <p:cNvSpPr/>
          <p:nvPr/>
        </p:nvSpPr>
        <p:spPr>
          <a:xfrm>
            <a:off x="2011680" y="1805940"/>
            <a:ext cx="124724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base_price_aud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233318" y="1805940"/>
            <a:ext cx="72420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int8</a:t>
            </a:r>
            <a:endParaRPr lang="en-US" sz="600" dirty="0"/>
          </a:p>
        </p:txBody>
      </p:sp>
      <p:sp>
        <p:nvSpPr>
          <p:cNvPr id="67" name="Shape 65"/>
          <p:cNvSpPr/>
          <p:nvPr/>
        </p:nvSpPr>
        <p:spPr>
          <a:xfrm>
            <a:off x="1965960" y="1975104"/>
            <a:ext cx="2011680" cy="169164"/>
          </a:xfrm>
          <a:prstGeom prst="rect">
            <a:avLst/>
          </a:prstGeom>
          <a:solidFill>
            <a:srgbClr val="0F172A"/>
          </a:solidFill>
          <a:ln w="7620">
            <a:solidFill>
              <a:srgbClr val="5B8DE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8" name="Text 66"/>
          <p:cNvSpPr/>
          <p:nvPr/>
        </p:nvSpPr>
        <p:spPr>
          <a:xfrm>
            <a:off x="2011680" y="1975104"/>
            <a:ext cx="124724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duration_days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3233318" y="1975104"/>
            <a:ext cx="72420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int4</a:t>
            </a:r>
            <a:endParaRPr lang="en-US" sz="600" dirty="0"/>
          </a:p>
        </p:txBody>
      </p:sp>
      <p:sp>
        <p:nvSpPr>
          <p:cNvPr id="70" name="Shape 68"/>
          <p:cNvSpPr/>
          <p:nvPr/>
        </p:nvSpPr>
        <p:spPr>
          <a:xfrm>
            <a:off x="1965960" y="2144268"/>
            <a:ext cx="2011680" cy="169164"/>
          </a:xfrm>
          <a:prstGeom prst="rect">
            <a:avLst/>
          </a:prstGeom>
          <a:solidFill>
            <a:srgbClr val="0F172A"/>
          </a:solidFill>
          <a:ln w="7620">
            <a:solidFill>
              <a:srgbClr val="5B8DE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1" name="Text 69"/>
          <p:cNvSpPr/>
          <p:nvPr/>
        </p:nvSpPr>
        <p:spPr>
          <a:xfrm>
            <a:off x="2011680" y="2144268"/>
            <a:ext cx="124724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submitted_at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3233318" y="2144268"/>
            <a:ext cx="72420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timestamptz</a:t>
            </a:r>
            <a:endParaRPr lang="en-US" sz="600" dirty="0"/>
          </a:p>
        </p:txBody>
      </p:sp>
      <p:sp>
        <p:nvSpPr>
          <p:cNvPr id="73" name="Shape 71"/>
          <p:cNvSpPr/>
          <p:nvPr/>
        </p:nvSpPr>
        <p:spPr>
          <a:xfrm>
            <a:off x="1965960" y="2313432"/>
            <a:ext cx="2011680" cy="169164"/>
          </a:xfrm>
          <a:prstGeom prst="rect">
            <a:avLst/>
          </a:prstGeom>
          <a:solidFill>
            <a:srgbClr val="0F172A"/>
          </a:solidFill>
          <a:ln w="7620">
            <a:solidFill>
              <a:srgbClr val="5B8DE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4" name="Text 72"/>
          <p:cNvSpPr/>
          <p:nvPr/>
        </p:nvSpPr>
        <p:spPr>
          <a:xfrm>
            <a:off x="2011680" y="2313432"/>
            <a:ext cx="124724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published_at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3233318" y="2313432"/>
            <a:ext cx="72420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timestamptz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4160520" y="713232"/>
            <a:ext cx="1691640" cy="246888"/>
          </a:xfrm>
          <a:prstGeom prst="rect">
            <a:avLst/>
          </a:prstGeom>
          <a:solidFill>
            <a:srgbClr val="251005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7" name="Text 75"/>
          <p:cNvSpPr/>
          <p:nvPr/>
        </p:nvSpPr>
        <p:spPr>
          <a:xfrm>
            <a:off x="4160520" y="713232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CD34D"/>
                </a:solidFill>
              </a:rPr>
              <a:t>package_approvals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160520" y="960120"/>
            <a:ext cx="1691640" cy="169164"/>
          </a:xfrm>
          <a:prstGeom prst="rect">
            <a:avLst/>
          </a:prstGeom>
          <a:solidFill>
            <a:srgbClr val="1A0D04"/>
          </a:solidFill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9" name="Text 77"/>
          <p:cNvSpPr/>
          <p:nvPr/>
        </p:nvSpPr>
        <p:spPr>
          <a:xfrm>
            <a:off x="4206240" y="960120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PK  approval_id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5226253" y="960120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uuid</a:t>
            </a:r>
            <a:endParaRPr lang="en-US" sz="600" dirty="0"/>
          </a:p>
        </p:txBody>
      </p:sp>
      <p:sp>
        <p:nvSpPr>
          <p:cNvPr id="81" name="Shape 79"/>
          <p:cNvSpPr/>
          <p:nvPr/>
        </p:nvSpPr>
        <p:spPr>
          <a:xfrm>
            <a:off x="4160520" y="1129284"/>
            <a:ext cx="1691640" cy="169164"/>
          </a:xfrm>
          <a:prstGeom prst="rect">
            <a:avLst/>
          </a:prstGeom>
          <a:solidFill>
            <a:srgbClr val="1A0D04"/>
          </a:solidFill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2" name="Text 80"/>
          <p:cNvSpPr/>
          <p:nvPr/>
        </p:nvSpPr>
        <p:spPr>
          <a:xfrm>
            <a:off x="4206240" y="1129284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FK  package_id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5226253" y="1129284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uuid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4160520" y="1298448"/>
            <a:ext cx="1691640" cy="169164"/>
          </a:xfrm>
          <a:prstGeom prst="rect">
            <a:avLst/>
          </a:prstGeom>
          <a:solidFill>
            <a:srgbClr val="1A0D04"/>
          </a:solidFill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5" name="Text 83"/>
          <p:cNvSpPr/>
          <p:nvPr/>
        </p:nvSpPr>
        <p:spPr>
          <a:xfrm>
            <a:off x="4206240" y="1298448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FK  admin_id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5226253" y="1298448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int8</a:t>
            </a:r>
            <a:endParaRPr lang="en-US" sz="600" dirty="0"/>
          </a:p>
        </p:txBody>
      </p:sp>
      <p:sp>
        <p:nvSpPr>
          <p:cNvPr id="87" name="Shape 85"/>
          <p:cNvSpPr/>
          <p:nvPr/>
        </p:nvSpPr>
        <p:spPr>
          <a:xfrm>
            <a:off x="4160520" y="1467612"/>
            <a:ext cx="1691640" cy="169164"/>
          </a:xfrm>
          <a:prstGeom prst="rect">
            <a:avLst/>
          </a:prstGeom>
          <a:solidFill>
            <a:srgbClr val="1A0D04"/>
          </a:solidFill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8" name="Text 86"/>
          <p:cNvSpPr/>
          <p:nvPr/>
        </p:nvSpPr>
        <p:spPr>
          <a:xfrm>
            <a:off x="4206240" y="1467612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action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5226253" y="1467612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</a:t>
            </a:r>
            <a:endParaRPr lang="en-US" sz="600" dirty="0"/>
          </a:p>
        </p:txBody>
      </p:sp>
      <p:sp>
        <p:nvSpPr>
          <p:cNvPr id="90" name="Shape 88"/>
          <p:cNvSpPr/>
          <p:nvPr/>
        </p:nvSpPr>
        <p:spPr>
          <a:xfrm>
            <a:off x="4160520" y="1636776"/>
            <a:ext cx="1691640" cy="169164"/>
          </a:xfrm>
          <a:prstGeom prst="rect">
            <a:avLst/>
          </a:prstGeom>
          <a:solidFill>
            <a:srgbClr val="1A0D04"/>
          </a:solidFill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1" name="Text 89"/>
          <p:cNvSpPr/>
          <p:nvPr/>
        </p:nvSpPr>
        <p:spPr>
          <a:xfrm>
            <a:off x="4206240" y="1636776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rejection_reason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5226253" y="1636776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text?</a:t>
            </a:r>
            <a:endParaRPr lang="en-US" sz="600" dirty="0"/>
          </a:p>
        </p:txBody>
      </p:sp>
      <p:sp>
        <p:nvSpPr>
          <p:cNvPr id="93" name="Shape 91"/>
          <p:cNvSpPr/>
          <p:nvPr/>
        </p:nvSpPr>
        <p:spPr>
          <a:xfrm>
            <a:off x="4160520" y="1805940"/>
            <a:ext cx="1691640" cy="169164"/>
          </a:xfrm>
          <a:prstGeom prst="rect">
            <a:avLst/>
          </a:prstGeom>
          <a:solidFill>
            <a:srgbClr val="1A0D04"/>
          </a:solidFill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4" name="Text 92"/>
          <p:cNvSpPr/>
          <p:nvPr/>
        </p:nvSpPr>
        <p:spPr>
          <a:xfrm>
            <a:off x="4206240" y="1805940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actioned_at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5226253" y="1805940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timestamptz</a:t>
            </a:r>
            <a:endParaRPr lang="en-US" sz="600" dirty="0"/>
          </a:p>
        </p:txBody>
      </p:sp>
      <p:sp>
        <p:nvSpPr>
          <p:cNvPr id="96" name="Shape 94"/>
          <p:cNvSpPr/>
          <p:nvPr/>
        </p:nvSpPr>
        <p:spPr>
          <a:xfrm>
            <a:off x="4160520" y="1965960"/>
            <a:ext cx="1691640" cy="246888"/>
          </a:xfrm>
          <a:prstGeom prst="rect">
            <a:avLst/>
          </a:prstGeom>
          <a:solidFill>
            <a:srgbClr val="251005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7" name="Text 95"/>
          <p:cNvSpPr/>
          <p:nvPr/>
        </p:nvSpPr>
        <p:spPr>
          <a:xfrm>
            <a:off x="4160520" y="196596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CD34D"/>
                </a:solidFill>
              </a:rPr>
              <a:t>ai_suggestions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4160520" y="2212848"/>
            <a:ext cx="1691640" cy="169164"/>
          </a:xfrm>
          <a:prstGeom prst="rect">
            <a:avLst/>
          </a:prstGeom>
          <a:solidFill>
            <a:srgbClr val="1A0D04"/>
          </a:solidFill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9" name="Text 97"/>
          <p:cNvSpPr/>
          <p:nvPr/>
        </p:nvSpPr>
        <p:spPr>
          <a:xfrm>
            <a:off x="4206240" y="2212848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PK  suggestion_id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5226253" y="2212848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uuid</a:t>
            </a:r>
            <a:endParaRPr lang="en-US" sz="600" dirty="0"/>
          </a:p>
        </p:txBody>
      </p:sp>
      <p:sp>
        <p:nvSpPr>
          <p:cNvPr id="101" name="Shape 99"/>
          <p:cNvSpPr/>
          <p:nvPr/>
        </p:nvSpPr>
        <p:spPr>
          <a:xfrm>
            <a:off x="4160520" y="2382012"/>
            <a:ext cx="1691640" cy="169164"/>
          </a:xfrm>
          <a:prstGeom prst="rect">
            <a:avLst/>
          </a:prstGeom>
          <a:solidFill>
            <a:srgbClr val="1A0D04"/>
          </a:solidFill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2" name="Text 100"/>
          <p:cNvSpPr/>
          <p:nvPr/>
        </p:nvSpPr>
        <p:spPr>
          <a:xfrm>
            <a:off x="4206240" y="2382012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FK  package_id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5226253" y="2382012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uuid</a:t>
            </a:r>
            <a:endParaRPr lang="en-US" sz="600" dirty="0"/>
          </a:p>
        </p:txBody>
      </p:sp>
      <p:sp>
        <p:nvSpPr>
          <p:cNvPr id="104" name="Shape 102"/>
          <p:cNvSpPr/>
          <p:nvPr/>
        </p:nvSpPr>
        <p:spPr>
          <a:xfrm>
            <a:off x="4160520" y="2551176"/>
            <a:ext cx="1691640" cy="169164"/>
          </a:xfrm>
          <a:prstGeom prst="rect">
            <a:avLst/>
          </a:prstGeom>
          <a:solidFill>
            <a:srgbClr val="1A0D04"/>
          </a:solidFill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5" name="Text 103"/>
          <p:cNvSpPr/>
          <p:nvPr/>
        </p:nvSpPr>
        <p:spPr>
          <a:xfrm>
            <a:off x="4206240" y="2551176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suggestion_type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5226253" y="2551176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</a:t>
            </a:r>
            <a:endParaRPr lang="en-US" sz="600" dirty="0"/>
          </a:p>
        </p:txBody>
      </p:sp>
      <p:sp>
        <p:nvSpPr>
          <p:cNvPr id="107" name="Shape 105"/>
          <p:cNvSpPr/>
          <p:nvPr/>
        </p:nvSpPr>
        <p:spPr>
          <a:xfrm>
            <a:off x="4160520" y="2720340"/>
            <a:ext cx="1691640" cy="169164"/>
          </a:xfrm>
          <a:prstGeom prst="rect">
            <a:avLst/>
          </a:prstGeom>
          <a:solidFill>
            <a:srgbClr val="1A0D04"/>
          </a:solidFill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8" name="Text 106"/>
          <p:cNvSpPr/>
          <p:nvPr/>
        </p:nvSpPr>
        <p:spPr>
          <a:xfrm>
            <a:off x="4206240" y="2720340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suggestion_content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5226253" y="2720340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jsonb</a:t>
            </a:r>
            <a:endParaRPr lang="en-US" sz="600" dirty="0"/>
          </a:p>
        </p:txBody>
      </p:sp>
      <p:sp>
        <p:nvSpPr>
          <p:cNvPr id="110" name="Shape 108"/>
          <p:cNvSpPr/>
          <p:nvPr/>
        </p:nvSpPr>
        <p:spPr>
          <a:xfrm>
            <a:off x="4160520" y="2889504"/>
            <a:ext cx="1691640" cy="169164"/>
          </a:xfrm>
          <a:prstGeom prst="rect">
            <a:avLst/>
          </a:prstGeom>
          <a:solidFill>
            <a:srgbClr val="1A0D04"/>
          </a:solidFill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1" name="Text 109"/>
          <p:cNvSpPr/>
          <p:nvPr/>
        </p:nvSpPr>
        <p:spPr>
          <a:xfrm>
            <a:off x="4206240" y="2889504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accepted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5226253" y="2889504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bool</a:t>
            </a:r>
            <a:endParaRPr lang="en-US" sz="600" dirty="0"/>
          </a:p>
        </p:txBody>
      </p:sp>
      <p:sp>
        <p:nvSpPr>
          <p:cNvPr id="113" name="Shape 111"/>
          <p:cNvSpPr/>
          <p:nvPr/>
        </p:nvSpPr>
        <p:spPr>
          <a:xfrm>
            <a:off x="4160520" y="3063240"/>
            <a:ext cx="1691640" cy="246888"/>
          </a:xfrm>
          <a:prstGeom prst="rect">
            <a:avLst/>
          </a:prstGeom>
          <a:solidFill>
            <a:srgbClr val="251005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4" name="Text 112"/>
          <p:cNvSpPr/>
          <p:nvPr/>
        </p:nvSpPr>
        <p:spPr>
          <a:xfrm>
            <a:off x="4160520" y="306324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CD34D"/>
                </a:solidFill>
              </a:rPr>
              <a:t>package_media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4160520" y="3310128"/>
            <a:ext cx="1691640" cy="169164"/>
          </a:xfrm>
          <a:prstGeom prst="rect">
            <a:avLst/>
          </a:prstGeom>
          <a:solidFill>
            <a:srgbClr val="1A0D04"/>
          </a:solidFill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6" name="Text 114"/>
          <p:cNvSpPr/>
          <p:nvPr/>
        </p:nvSpPr>
        <p:spPr>
          <a:xfrm>
            <a:off x="4206240" y="3310128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PK  media_id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5226253" y="3310128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uuid</a:t>
            </a:r>
            <a:endParaRPr lang="en-US" sz="600" dirty="0"/>
          </a:p>
        </p:txBody>
      </p:sp>
      <p:sp>
        <p:nvSpPr>
          <p:cNvPr id="118" name="Shape 116"/>
          <p:cNvSpPr/>
          <p:nvPr/>
        </p:nvSpPr>
        <p:spPr>
          <a:xfrm>
            <a:off x="4160520" y="3479292"/>
            <a:ext cx="1691640" cy="169164"/>
          </a:xfrm>
          <a:prstGeom prst="rect">
            <a:avLst/>
          </a:prstGeom>
          <a:solidFill>
            <a:srgbClr val="1A0D04"/>
          </a:solidFill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9" name="Text 117"/>
          <p:cNvSpPr/>
          <p:nvPr/>
        </p:nvSpPr>
        <p:spPr>
          <a:xfrm>
            <a:off x="4206240" y="3479292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FK  package_id</a:t>
            </a:r>
            <a:endParaRPr lang="en-US" sz="700" dirty="0"/>
          </a:p>
        </p:txBody>
      </p:sp>
      <p:sp>
        <p:nvSpPr>
          <p:cNvPr id="120" name="Text 118"/>
          <p:cNvSpPr/>
          <p:nvPr/>
        </p:nvSpPr>
        <p:spPr>
          <a:xfrm>
            <a:off x="5226253" y="3479292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uuid</a:t>
            </a:r>
            <a:endParaRPr lang="en-US" sz="600" dirty="0"/>
          </a:p>
        </p:txBody>
      </p:sp>
      <p:sp>
        <p:nvSpPr>
          <p:cNvPr id="121" name="Shape 119"/>
          <p:cNvSpPr/>
          <p:nvPr/>
        </p:nvSpPr>
        <p:spPr>
          <a:xfrm>
            <a:off x="4160520" y="3648456"/>
            <a:ext cx="1691640" cy="169164"/>
          </a:xfrm>
          <a:prstGeom prst="rect">
            <a:avLst/>
          </a:prstGeom>
          <a:solidFill>
            <a:srgbClr val="1A0D04"/>
          </a:solidFill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2" name="Text 120"/>
          <p:cNvSpPr/>
          <p:nvPr/>
        </p:nvSpPr>
        <p:spPr>
          <a:xfrm>
            <a:off x="4206240" y="3648456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FK  uploaded_by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5226253" y="3648456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int8</a:t>
            </a:r>
            <a:endParaRPr lang="en-US" sz="600" dirty="0"/>
          </a:p>
        </p:txBody>
      </p:sp>
      <p:sp>
        <p:nvSpPr>
          <p:cNvPr id="124" name="Shape 122"/>
          <p:cNvSpPr/>
          <p:nvPr/>
        </p:nvSpPr>
        <p:spPr>
          <a:xfrm>
            <a:off x="4160520" y="3817620"/>
            <a:ext cx="1691640" cy="169164"/>
          </a:xfrm>
          <a:prstGeom prst="rect">
            <a:avLst/>
          </a:prstGeom>
          <a:solidFill>
            <a:srgbClr val="1A0D04"/>
          </a:solidFill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5" name="Text 123"/>
          <p:cNvSpPr/>
          <p:nvPr/>
        </p:nvSpPr>
        <p:spPr>
          <a:xfrm>
            <a:off x="4206240" y="3817620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media_type</a:t>
            </a:r>
            <a:endParaRPr lang="en-US" sz="700" dirty="0"/>
          </a:p>
        </p:txBody>
      </p:sp>
      <p:sp>
        <p:nvSpPr>
          <p:cNvPr id="126" name="Text 124"/>
          <p:cNvSpPr/>
          <p:nvPr/>
        </p:nvSpPr>
        <p:spPr>
          <a:xfrm>
            <a:off x="5226253" y="3817620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</a:t>
            </a:r>
            <a:endParaRPr lang="en-US" sz="600" dirty="0"/>
          </a:p>
        </p:txBody>
      </p:sp>
      <p:sp>
        <p:nvSpPr>
          <p:cNvPr id="127" name="Shape 125"/>
          <p:cNvSpPr/>
          <p:nvPr/>
        </p:nvSpPr>
        <p:spPr>
          <a:xfrm>
            <a:off x="4160520" y="3986784"/>
            <a:ext cx="1691640" cy="169164"/>
          </a:xfrm>
          <a:prstGeom prst="rect">
            <a:avLst/>
          </a:prstGeom>
          <a:solidFill>
            <a:srgbClr val="1A0D04"/>
          </a:solidFill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8" name="Text 126"/>
          <p:cNvSpPr/>
          <p:nvPr/>
        </p:nvSpPr>
        <p:spPr>
          <a:xfrm>
            <a:off x="4206240" y="3986784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url / thumbnail_url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5226253" y="3986784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</a:t>
            </a:r>
            <a:endParaRPr lang="en-US" sz="600" dirty="0"/>
          </a:p>
        </p:txBody>
      </p:sp>
      <p:sp>
        <p:nvSpPr>
          <p:cNvPr id="130" name="Shape 128"/>
          <p:cNvSpPr/>
          <p:nvPr/>
        </p:nvSpPr>
        <p:spPr>
          <a:xfrm>
            <a:off x="4160520" y="4155948"/>
            <a:ext cx="1691640" cy="169164"/>
          </a:xfrm>
          <a:prstGeom prst="rect">
            <a:avLst/>
          </a:prstGeom>
          <a:solidFill>
            <a:srgbClr val="1A0D04"/>
          </a:solidFill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1" name="Text 129"/>
          <p:cNvSpPr/>
          <p:nvPr/>
        </p:nvSpPr>
        <p:spPr>
          <a:xfrm>
            <a:off x="4206240" y="4155948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is_cover</a:t>
            </a:r>
            <a:endParaRPr lang="en-US" sz="700" dirty="0"/>
          </a:p>
        </p:txBody>
      </p:sp>
      <p:sp>
        <p:nvSpPr>
          <p:cNvPr id="132" name="Text 130"/>
          <p:cNvSpPr/>
          <p:nvPr/>
        </p:nvSpPr>
        <p:spPr>
          <a:xfrm>
            <a:off x="5226253" y="4155948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bool</a:t>
            </a:r>
            <a:endParaRPr lang="en-US" sz="600" dirty="0"/>
          </a:p>
        </p:txBody>
      </p:sp>
      <p:sp>
        <p:nvSpPr>
          <p:cNvPr id="133" name="Shape 131"/>
          <p:cNvSpPr/>
          <p:nvPr/>
        </p:nvSpPr>
        <p:spPr>
          <a:xfrm>
            <a:off x="4160520" y="4206240"/>
            <a:ext cx="1691640" cy="246888"/>
          </a:xfrm>
          <a:prstGeom prst="rect">
            <a:avLst/>
          </a:prstGeom>
          <a:solidFill>
            <a:srgbClr val="251005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4" name="Text 132"/>
          <p:cNvSpPr/>
          <p:nvPr/>
        </p:nvSpPr>
        <p:spPr>
          <a:xfrm>
            <a:off x="4160520" y="420624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CD34D"/>
                </a:solidFill>
              </a:rPr>
              <a:t>package_reviews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4160520" y="4453128"/>
            <a:ext cx="1691640" cy="169164"/>
          </a:xfrm>
          <a:prstGeom prst="rect">
            <a:avLst/>
          </a:prstGeom>
          <a:solidFill>
            <a:srgbClr val="1A0D04"/>
          </a:solidFill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6" name="Text 134"/>
          <p:cNvSpPr/>
          <p:nvPr/>
        </p:nvSpPr>
        <p:spPr>
          <a:xfrm>
            <a:off x="4206240" y="4453128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PK  review_id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5226253" y="4453128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uuid</a:t>
            </a:r>
            <a:endParaRPr lang="en-US" sz="600" dirty="0"/>
          </a:p>
        </p:txBody>
      </p:sp>
      <p:sp>
        <p:nvSpPr>
          <p:cNvPr id="138" name="Shape 136"/>
          <p:cNvSpPr/>
          <p:nvPr/>
        </p:nvSpPr>
        <p:spPr>
          <a:xfrm>
            <a:off x="4160520" y="4622292"/>
            <a:ext cx="1691640" cy="169164"/>
          </a:xfrm>
          <a:prstGeom prst="rect">
            <a:avLst/>
          </a:prstGeom>
          <a:solidFill>
            <a:srgbClr val="1A0D04"/>
          </a:solidFill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9" name="Text 137"/>
          <p:cNvSpPr/>
          <p:nvPr/>
        </p:nvSpPr>
        <p:spPr>
          <a:xfrm>
            <a:off x="4206240" y="4622292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FK  package_id</a:t>
            </a:r>
            <a:endParaRPr lang="en-US" sz="700" dirty="0"/>
          </a:p>
        </p:txBody>
      </p:sp>
      <p:sp>
        <p:nvSpPr>
          <p:cNvPr id="140" name="Text 138"/>
          <p:cNvSpPr/>
          <p:nvPr/>
        </p:nvSpPr>
        <p:spPr>
          <a:xfrm>
            <a:off x="5226253" y="4622292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uuid</a:t>
            </a:r>
            <a:endParaRPr lang="en-US" sz="600" dirty="0"/>
          </a:p>
        </p:txBody>
      </p:sp>
      <p:sp>
        <p:nvSpPr>
          <p:cNvPr id="141" name="Shape 139"/>
          <p:cNvSpPr/>
          <p:nvPr/>
        </p:nvSpPr>
        <p:spPr>
          <a:xfrm>
            <a:off x="4160520" y="4791456"/>
            <a:ext cx="1691640" cy="169164"/>
          </a:xfrm>
          <a:prstGeom prst="rect">
            <a:avLst/>
          </a:prstGeom>
          <a:solidFill>
            <a:srgbClr val="1A0D04"/>
          </a:solidFill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2" name="Text 140"/>
          <p:cNvSpPr/>
          <p:nvPr/>
        </p:nvSpPr>
        <p:spPr>
          <a:xfrm>
            <a:off x="4206240" y="4791456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FK  customer_id</a:t>
            </a:r>
            <a:endParaRPr lang="en-US" sz="700" dirty="0"/>
          </a:p>
        </p:txBody>
      </p:sp>
      <p:sp>
        <p:nvSpPr>
          <p:cNvPr id="143" name="Text 141"/>
          <p:cNvSpPr/>
          <p:nvPr/>
        </p:nvSpPr>
        <p:spPr>
          <a:xfrm>
            <a:off x="5226253" y="4791456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int8</a:t>
            </a:r>
            <a:endParaRPr lang="en-US" sz="600" dirty="0"/>
          </a:p>
        </p:txBody>
      </p:sp>
      <p:sp>
        <p:nvSpPr>
          <p:cNvPr id="144" name="Shape 142"/>
          <p:cNvSpPr/>
          <p:nvPr/>
        </p:nvSpPr>
        <p:spPr>
          <a:xfrm>
            <a:off x="4160520" y="4960620"/>
            <a:ext cx="1691640" cy="169164"/>
          </a:xfrm>
          <a:prstGeom prst="rect">
            <a:avLst/>
          </a:prstGeom>
          <a:solidFill>
            <a:srgbClr val="1A0D04"/>
          </a:solidFill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5" name="Text 143"/>
          <p:cNvSpPr/>
          <p:nvPr/>
        </p:nvSpPr>
        <p:spPr>
          <a:xfrm>
            <a:off x="4206240" y="4960620"/>
            <a:ext cx="104881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rating</a:t>
            </a:r>
            <a:endParaRPr lang="en-US" sz="700" dirty="0"/>
          </a:p>
        </p:txBody>
      </p:sp>
      <p:sp>
        <p:nvSpPr>
          <p:cNvPr id="146" name="Text 144"/>
          <p:cNvSpPr/>
          <p:nvPr/>
        </p:nvSpPr>
        <p:spPr>
          <a:xfrm>
            <a:off x="5226253" y="4960620"/>
            <a:ext cx="60899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float8</a:t>
            </a:r>
            <a:endParaRPr lang="en-US" sz="600" dirty="0"/>
          </a:p>
        </p:txBody>
      </p:sp>
      <p:sp>
        <p:nvSpPr>
          <p:cNvPr id="147" name="Shape 145"/>
          <p:cNvSpPr/>
          <p:nvPr/>
        </p:nvSpPr>
        <p:spPr>
          <a:xfrm>
            <a:off x="1828800" y="1428750"/>
            <a:ext cx="137160" cy="0"/>
          </a:xfrm>
          <a:prstGeom prst="line">
            <a:avLst/>
          </a:prstGeom>
          <a:noFill/>
          <a:ln w="13970">
            <a:solidFill>
              <a:srgbClr val="60A5FA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148" name="Text 146"/>
          <p:cNvSpPr/>
          <p:nvPr/>
        </p:nvSpPr>
        <p:spPr>
          <a:xfrm>
            <a:off x="1874520" y="1264158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0A5FA"/>
                </a:solidFill>
              </a:rPr>
              <a:t>1:M</a:t>
            </a:r>
            <a:endParaRPr lang="en-US" sz="700" dirty="0"/>
          </a:p>
        </p:txBody>
      </p:sp>
      <p:sp>
        <p:nvSpPr>
          <p:cNvPr id="149" name="Shape 147"/>
          <p:cNvSpPr/>
          <p:nvPr/>
        </p:nvSpPr>
        <p:spPr>
          <a:xfrm>
            <a:off x="982980" y="2144268"/>
            <a:ext cx="0" cy="278892"/>
          </a:xfrm>
          <a:prstGeom prst="line">
            <a:avLst/>
          </a:prstGeom>
          <a:noFill/>
          <a:ln w="13970">
            <a:solidFill>
              <a:srgbClr val="A78BFA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150" name="Text 148"/>
          <p:cNvSpPr/>
          <p:nvPr/>
        </p:nvSpPr>
        <p:spPr>
          <a:xfrm>
            <a:off x="1028700" y="2192274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78BFA"/>
                </a:solidFill>
              </a:rPr>
              <a:t>1:1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3977640" y="1344168"/>
            <a:ext cx="182880" cy="0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152" name="Text 150"/>
          <p:cNvSpPr/>
          <p:nvPr/>
        </p:nvSpPr>
        <p:spPr>
          <a:xfrm>
            <a:off x="4023360" y="1179576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59E0B"/>
                </a:solidFill>
              </a:rPr>
              <a:t>1:M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3977640" y="2512314"/>
            <a:ext cx="182880" cy="0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154" name="Shape 152"/>
          <p:cNvSpPr/>
          <p:nvPr/>
        </p:nvSpPr>
        <p:spPr>
          <a:xfrm>
            <a:off x="3977640" y="3694176"/>
            <a:ext cx="182880" cy="0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155" name="Shape 153"/>
          <p:cNvSpPr/>
          <p:nvPr/>
        </p:nvSpPr>
        <p:spPr>
          <a:xfrm>
            <a:off x="3977640" y="4668012"/>
            <a:ext cx="182880" cy="0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156" name="Shape 154"/>
          <p:cNvSpPr/>
          <p:nvPr/>
        </p:nvSpPr>
        <p:spPr>
          <a:xfrm>
            <a:off x="5989320" y="685800"/>
            <a:ext cx="2926080" cy="1005840"/>
          </a:xfrm>
          <a:prstGeom prst="rect">
            <a:avLst/>
          </a:prstGeom>
          <a:solidFill>
            <a:srgbClr val="1A1F35"/>
          </a:solidFill>
          <a:ln w="12700">
            <a:solidFill>
              <a:srgbClr val="3A3F5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7" name="Text 155"/>
          <p:cNvSpPr/>
          <p:nvPr/>
        </p:nvSpPr>
        <p:spPr>
          <a:xfrm>
            <a:off x="6080760" y="731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Legend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6080760" y="978408"/>
            <a:ext cx="164592" cy="128016"/>
          </a:xfrm>
          <a:prstGeom prst="rect">
            <a:avLst/>
          </a:prstGeom>
          <a:solidFill>
            <a:srgbClr val="5B8DEE"/>
          </a:solidFill>
          <a:ln w="12700">
            <a:solidFill>
              <a:srgbClr val="5B8DE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9" name="Text 157"/>
          <p:cNvSpPr/>
          <p:nvPr/>
        </p:nvSpPr>
        <p:spPr>
          <a:xfrm>
            <a:off x="6309360" y="96012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5CAE0"/>
                </a:solidFill>
              </a:rPr>
              <a:t>Core Entity</a:t>
            </a:r>
            <a:endParaRPr lang="en-US" sz="800" dirty="0"/>
          </a:p>
        </p:txBody>
      </p:sp>
      <p:sp>
        <p:nvSpPr>
          <p:cNvPr id="160" name="Shape 158"/>
          <p:cNvSpPr/>
          <p:nvPr/>
        </p:nvSpPr>
        <p:spPr>
          <a:xfrm>
            <a:off x="6080760" y="1207008"/>
            <a:ext cx="164592" cy="12801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1" name="Text 159"/>
          <p:cNvSpPr/>
          <p:nvPr/>
        </p:nvSpPr>
        <p:spPr>
          <a:xfrm>
            <a:off x="6309360" y="118872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5CAE0"/>
                </a:solidFill>
              </a:rPr>
              <a:t>Reference/Profile</a:t>
            </a:r>
            <a:endParaRPr lang="en-US" sz="800" dirty="0"/>
          </a:p>
        </p:txBody>
      </p:sp>
      <p:sp>
        <p:nvSpPr>
          <p:cNvPr id="162" name="Shape 160"/>
          <p:cNvSpPr/>
          <p:nvPr/>
        </p:nvSpPr>
        <p:spPr>
          <a:xfrm>
            <a:off x="6080760" y="1435608"/>
            <a:ext cx="164592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3" name="Text 161"/>
          <p:cNvSpPr/>
          <p:nvPr/>
        </p:nvSpPr>
        <p:spPr>
          <a:xfrm>
            <a:off x="6309360" y="141732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5CAE0"/>
                </a:solidFill>
              </a:rPr>
              <a:t>Workflow/Media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ERD — Component Layer  (2/2)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43891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Junction tables link travel packages to reference data — flights, hotels, and activities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37160" y="713232"/>
            <a:ext cx="1828800" cy="246888"/>
          </a:xfrm>
          <a:prstGeom prst="rect">
            <a:avLst/>
          </a:prstGeom>
          <a:solidFill>
            <a:srgbClr val="1A2E5A"/>
          </a:solidFill>
          <a:ln w="19050">
            <a:solidFill>
              <a:srgbClr val="5B8DE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137160" y="71323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3C5FD"/>
                </a:solidFill>
              </a:rPr>
              <a:t>travel_packages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7160" y="960120"/>
            <a:ext cx="1828800" cy="169164"/>
          </a:xfrm>
          <a:prstGeom prst="rect">
            <a:avLst/>
          </a:prstGeom>
          <a:solidFill>
            <a:srgbClr val="0F172A"/>
          </a:solidFill>
          <a:ln w="7620">
            <a:solidFill>
              <a:srgbClr val="5B8DE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182880" y="960120"/>
            <a:ext cx="113385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PK  package_id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289304" y="960120"/>
            <a:ext cx="65836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uuid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137160" y="1129284"/>
            <a:ext cx="1828800" cy="169164"/>
          </a:xfrm>
          <a:prstGeom prst="rect">
            <a:avLst/>
          </a:prstGeom>
          <a:solidFill>
            <a:srgbClr val="0F172A"/>
          </a:solidFill>
          <a:ln w="7620">
            <a:solidFill>
              <a:srgbClr val="5B8DE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182880" y="1129284"/>
            <a:ext cx="113385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creator_id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289304" y="1129284"/>
            <a:ext cx="65836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int8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137160" y="1298448"/>
            <a:ext cx="1828800" cy="169164"/>
          </a:xfrm>
          <a:prstGeom prst="rect">
            <a:avLst/>
          </a:prstGeom>
          <a:solidFill>
            <a:srgbClr val="0F172A"/>
          </a:solidFill>
          <a:ln w="7620">
            <a:solidFill>
              <a:srgbClr val="5B8DE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182880" y="1298448"/>
            <a:ext cx="113385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title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289304" y="1298448"/>
            <a:ext cx="65836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137160" y="1467612"/>
            <a:ext cx="1828800" cy="169164"/>
          </a:xfrm>
          <a:prstGeom prst="rect">
            <a:avLst/>
          </a:prstGeom>
          <a:solidFill>
            <a:srgbClr val="0F172A"/>
          </a:solidFill>
          <a:ln w="7620">
            <a:solidFill>
              <a:srgbClr val="5B8DE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182880" y="1467612"/>
            <a:ext cx="113385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status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289304" y="1467612"/>
            <a:ext cx="65836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137160" y="1636776"/>
            <a:ext cx="1828800" cy="169164"/>
          </a:xfrm>
          <a:prstGeom prst="rect">
            <a:avLst/>
          </a:prstGeom>
          <a:solidFill>
            <a:srgbClr val="0F172A"/>
          </a:solidFill>
          <a:ln w="7620">
            <a:solidFill>
              <a:srgbClr val="5B8DE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182880" y="1636776"/>
            <a:ext cx="113385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base_price_aud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289304" y="1636776"/>
            <a:ext cx="65836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int8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2286000" y="713232"/>
            <a:ext cx="2011680" cy="246888"/>
          </a:xfrm>
          <a:prstGeom prst="rect">
            <a:avLst/>
          </a:prstGeom>
          <a:solidFill>
            <a:srgbClr val="0A2020"/>
          </a:solidFill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2286000" y="71323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EEAD4"/>
                </a:solidFill>
              </a:rPr>
              <a:t>package_flights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0" y="960120"/>
            <a:ext cx="2011680" cy="169164"/>
          </a:xfrm>
          <a:prstGeom prst="rect">
            <a:avLst/>
          </a:prstGeom>
          <a:solidFill>
            <a:srgbClr val="0D1A1A"/>
          </a:solidFill>
          <a:ln w="762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2331720" y="960120"/>
            <a:ext cx="124724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PK  id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553358" y="960120"/>
            <a:ext cx="72420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uuid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2286000" y="1129284"/>
            <a:ext cx="2011680" cy="169164"/>
          </a:xfrm>
          <a:prstGeom prst="rect">
            <a:avLst/>
          </a:prstGeom>
          <a:solidFill>
            <a:srgbClr val="0D1A1A"/>
          </a:solidFill>
          <a:ln w="762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2331720" y="1129284"/>
            <a:ext cx="124724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FK  package_id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553358" y="1129284"/>
            <a:ext cx="72420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uuid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2286000" y="1298448"/>
            <a:ext cx="2011680" cy="169164"/>
          </a:xfrm>
          <a:prstGeom prst="rect">
            <a:avLst/>
          </a:prstGeom>
          <a:solidFill>
            <a:srgbClr val="0D1A1A"/>
          </a:solidFill>
          <a:ln w="762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2331720" y="1298448"/>
            <a:ext cx="124724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FK  flight_id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553358" y="1298448"/>
            <a:ext cx="72420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2286000" y="1467612"/>
            <a:ext cx="2011680" cy="169164"/>
          </a:xfrm>
          <a:prstGeom prst="rect">
            <a:avLst/>
          </a:prstGeom>
          <a:solidFill>
            <a:srgbClr val="0D1A1A"/>
          </a:solidFill>
          <a:ln w="762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3" name="Text 31"/>
          <p:cNvSpPr/>
          <p:nvPr/>
        </p:nvSpPr>
        <p:spPr>
          <a:xfrm>
            <a:off x="2331720" y="1467612"/>
            <a:ext cx="124724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day_number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553358" y="1467612"/>
            <a:ext cx="72420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int4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2286000" y="1636776"/>
            <a:ext cx="2011680" cy="169164"/>
          </a:xfrm>
          <a:prstGeom prst="rect">
            <a:avLst/>
          </a:prstGeom>
          <a:solidFill>
            <a:srgbClr val="0D1A1A"/>
          </a:solidFill>
          <a:ln w="762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6" name="Text 34"/>
          <p:cNvSpPr/>
          <p:nvPr/>
        </p:nvSpPr>
        <p:spPr>
          <a:xfrm>
            <a:off x="2331720" y="1636776"/>
            <a:ext cx="124724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sequence_order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553358" y="1636776"/>
            <a:ext cx="72420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int4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2286000" y="2194560"/>
            <a:ext cx="2011680" cy="246888"/>
          </a:xfrm>
          <a:prstGeom prst="rect">
            <a:avLst/>
          </a:prstGeom>
          <a:solidFill>
            <a:srgbClr val="0A2020"/>
          </a:solidFill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9" name="Text 37"/>
          <p:cNvSpPr/>
          <p:nvPr/>
        </p:nvSpPr>
        <p:spPr>
          <a:xfrm>
            <a:off x="2286000" y="219456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EEAD4"/>
                </a:solidFill>
              </a:rPr>
              <a:t>package_hotels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0" y="2441448"/>
            <a:ext cx="2011680" cy="169164"/>
          </a:xfrm>
          <a:prstGeom prst="rect">
            <a:avLst/>
          </a:prstGeom>
          <a:solidFill>
            <a:srgbClr val="0D1A1A"/>
          </a:solidFill>
          <a:ln w="762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1" name="Text 39"/>
          <p:cNvSpPr/>
          <p:nvPr/>
        </p:nvSpPr>
        <p:spPr>
          <a:xfrm>
            <a:off x="2331720" y="2441448"/>
            <a:ext cx="124724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PK  id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553358" y="2441448"/>
            <a:ext cx="72420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uuid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2286000" y="2610612"/>
            <a:ext cx="2011680" cy="169164"/>
          </a:xfrm>
          <a:prstGeom prst="rect">
            <a:avLst/>
          </a:prstGeom>
          <a:solidFill>
            <a:srgbClr val="0D1A1A"/>
          </a:solidFill>
          <a:ln w="762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4" name="Text 42"/>
          <p:cNvSpPr/>
          <p:nvPr/>
        </p:nvSpPr>
        <p:spPr>
          <a:xfrm>
            <a:off x="2331720" y="2610612"/>
            <a:ext cx="124724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FK  package_id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553358" y="2610612"/>
            <a:ext cx="72420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uuid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2286000" y="2779776"/>
            <a:ext cx="2011680" cy="169164"/>
          </a:xfrm>
          <a:prstGeom prst="rect">
            <a:avLst/>
          </a:prstGeom>
          <a:solidFill>
            <a:srgbClr val="0D1A1A"/>
          </a:solidFill>
          <a:ln w="762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7" name="Text 45"/>
          <p:cNvSpPr/>
          <p:nvPr/>
        </p:nvSpPr>
        <p:spPr>
          <a:xfrm>
            <a:off x="2331720" y="2779776"/>
            <a:ext cx="124724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FK  hotel_id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553358" y="2779776"/>
            <a:ext cx="72420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2286000" y="2948940"/>
            <a:ext cx="2011680" cy="169164"/>
          </a:xfrm>
          <a:prstGeom prst="rect">
            <a:avLst/>
          </a:prstGeom>
          <a:solidFill>
            <a:srgbClr val="0D1A1A"/>
          </a:solidFill>
          <a:ln w="762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0" name="Text 48"/>
          <p:cNvSpPr/>
          <p:nvPr/>
        </p:nvSpPr>
        <p:spPr>
          <a:xfrm>
            <a:off x="2331720" y="2948940"/>
            <a:ext cx="124724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check_in_day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553358" y="2948940"/>
            <a:ext cx="72420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int4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2286000" y="3118104"/>
            <a:ext cx="2011680" cy="169164"/>
          </a:xfrm>
          <a:prstGeom prst="rect">
            <a:avLst/>
          </a:prstGeom>
          <a:solidFill>
            <a:srgbClr val="0D1A1A"/>
          </a:solidFill>
          <a:ln w="762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3" name="Text 51"/>
          <p:cNvSpPr/>
          <p:nvPr/>
        </p:nvSpPr>
        <p:spPr>
          <a:xfrm>
            <a:off x="2331720" y="3118104"/>
            <a:ext cx="124724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nights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553358" y="3118104"/>
            <a:ext cx="72420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int4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2286000" y="3566160"/>
            <a:ext cx="2011680" cy="246888"/>
          </a:xfrm>
          <a:prstGeom prst="rect">
            <a:avLst/>
          </a:prstGeom>
          <a:solidFill>
            <a:srgbClr val="0A2020"/>
          </a:solidFill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6" name="Text 54"/>
          <p:cNvSpPr/>
          <p:nvPr/>
        </p:nvSpPr>
        <p:spPr>
          <a:xfrm>
            <a:off x="2286000" y="356616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EEAD4"/>
                </a:solidFill>
              </a:rPr>
              <a:t>package_activities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286000" y="3813048"/>
            <a:ext cx="2011680" cy="169164"/>
          </a:xfrm>
          <a:prstGeom prst="rect">
            <a:avLst/>
          </a:prstGeom>
          <a:solidFill>
            <a:srgbClr val="0D1A1A"/>
          </a:solidFill>
          <a:ln w="762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8" name="Text 56"/>
          <p:cNvSpPr/>
          <p:nvPr/>
        </p:nvSpPr>
        <p:spPr>
          <a:xfrm>
            <a:off x="2331720" y="3813048"/>
            <a:ext cx="124724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PK  id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3553358" y="3813048"/>
            <a:ext cx="72420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uuid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2286000" y="3982212"/>
            <a:ext cx="2011680" cy="169164"/>
          </a:xfrm>
          <a:prstGeom prst="rect">
            <a:avLst/>
          </a:prstGeom>
          <a:solidFill>
            <a:srgbClr val="0D1A1A"/>
          </a:solidFill>
          <a:ln w="762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1" name="Text 59"/>
          <p:cNvSpPr/>
          <p:nvPr/>
        </p:nvSpPr>
        <p:spPr>
          <a:xfrm>
            <a:off x="2331720" y="3982212"/>
            <a:ext cx="124724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FK  package_id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553358" y="3982212"/>
            <a:ext cx="72420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uuid</a:t>
            </a: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2286000" y="4151376"/>
            <a:ext cx="2011680" cy="169164"/>
          </a:xfrm>
          <a:prstGeom prst="rect">
            <a:avLst/>
          </a:prstGeom>
          <a:solidFill>
            <a:srgbClr val="0D1A1A"/>
          </a:solidFill>
          <a:ln w="762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4" name="Text 62"/>
          <p:cNvSpPr/>
          <p:nvPr/>
        </p:nvSpPr>
        <p:spPr>
          <a:xfrm>
            <a:off x="2331720" y="4151376"/>
            <a:ext cx="124724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FK  activity_id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3553358" y="4151376"/>
            <a:ext cx="72420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2286000" y="4320540"/>
            <a:ext cx="2011680" cy="169164"/>
          </a:xfrm>
          <a:prstGeom prst="rect">
            <a:avLst/>
          </a:prstGeom>
          <a:solidFill>
            <a:srgbClr val="0D1A1A"/>
          </a:solidFill>
          <a:ln w="762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7" name="Text 65"/>
          <p:cNvSpPr/>
          <p:nvPr/>
        </p:nvSpPr>
        <p:spPr>
          <a:xfrm>
            <a:off x="2331720" y="4320540"/>
            <a:ext cx="124724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day_number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3553358" y="4320540"/>
            <a:ext cx="72420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int4</a:t>
            </a:r>
            <a:endParaRPr lang="en-US" sz="600" dirty="0"/>
          </a:p>
        </p:txBody>
      </p:sp>
      <p:sp>
        <p:nvSpPr>
          <p:cNvPr id="69" name="Shape 67"/>
          <p:cNvSpPr/>
          <p:nvPr/>
        </p:nvSpPr>
        <p:spPr>
          <a:xfrm>
            <a:off x="2286000" y="4489704"/>
            <a:ext cx="2011680" cy="169164"/>
          </a:xfrm>
          <a:prstGeom prst="rect">
            <a:avLst/>
          </a:prstGeom>
          <a:solidFill>
            <a:srgbClr val="0D1A1A"/>
          </a:solidFill>
          <a:ln w="762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0" name="Text 68"/>
          <p:cNvSpPr/>
          <p:nvPr/>
        </p:nvSpPr>
        <p:spPr>
          <a:xfrm>
            <a:off x="2331720" y="4489704"/>
            <a:ext cx="124724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sequence_order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3553358" y="4489704"/>
            <a:ext cx="724205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int4</a:t>
            </a:r>
            <a:endParaRPr lang="en-US" sz="600" dirty="0"/>
          </a:p>
        </p:txBody>
      </p:sp>
      <p:sp>
        <p:nvSpPr>
          <p:cNvPr id="72" name="Shape 70"/>
          <p:cNvSpPr/>
          <p:nvPr/>
        </p:nvSpPr>
        <p:spPr>
          <a:xfrm>
            <a:off x="4572000" y="713232"/>
            <a:ext cx="2103120" cy="246888"/>
          </a:xfrm>
          <a:prstGeom prst="rect">
            <a:avLst/>
          </a:prstGeom>
          <a:solidFill>
            <a:srgbClr val="180838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3" name="Text 71"/>
          <p:cNvSpPr/>
          <p:nvPr/>
        </p:nvSpPr>
        <p:spPr>
          <a:xfrm>
            <a:off x="4572000" y="71323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4B5FD"/>
                </a:solidFill>
              </a:rPr>
              <a:t>flights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572000" y="960120"/>
            <a:ext cx="2103120" cy="169164"/>
          </a:xfrm>
          <a:prstGeom prst="rect">
            <a:avLst/>
          </a:prstGeom>
          <a:solidFill>
            <a:srgbClr val="100820"/>
          </a:solidFill>
          <a:ln w="762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5" name="Text 73"/>
          <p:cNvSpPr/>
          <p:nvPr/>
        </p:nvSpPr>
        <p:spPr>
          <a:xfrm>
            <a:off x="4617720" y="960120"/>
            <a:ext cx="130393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PK  flight_id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896966" y="960120"/>
            <a:ext cx="757123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</a:t>
            </a:r>
            <a:endParaRPr lang="en-US" sz="600" dirty="0"/>
          </a:p>
        </p:txBody>
      </p:sp>
      <p:sp>
        <p:nvSpPr>
          <p:cNvPr id="77" name="Shape 75"/>
          <p:cNvSpPr/>
          <p:nvPr/>
        </p:nvSpPr>
        <p:spPr>
          <a:xfrm>
            <a:off x="4572000" y="1129284"/>
            <a:ext cx="2103120" cy="169164"/>
          </a:xfrm>
          <a:prstGeom prst="rect">
            <a:avLst/>
          </a:prstGeom>
          <a:solidFill>
            <a:srgbClr val="100820"/>
          </a:solidFill>
          <a:ln w="762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8" name="Text 76"/>
          <p:cNvSpPr/>
          <p:nvPr/>
        </p:nvSpPr>
        <p:spPr>
          <a:xfrm>
            <a:off x="4617720" y="1129284"/>
            <a:ext cx="130393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airline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896966" y="1129284"/>
            <a:ext cx="757123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4572000" y="1298448"/>
            <a:ext cx="2103120" cy="169164"/>
          </a:xfrm>
          <a:prstGeom prst="rect">
            <a:avLst/>
          </a:prstGeom>
          <a:solidFill>
            <a:srgbClr val="100820"/>
          </a:solidFill>
          <a:ln w="762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1" name="Text 79"/>
          <p:cNvSpPr/>
          <p:nvPr/>
        </p:nvSpPr>
        <p:spPr>
          <a:xfrm>
            <a:off x="4617720" y="1298448"/>
            <a:ext cx="130393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origin  /  destination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5896966" y="1298448"/>
            <a:ext cx="757123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</a:t>
            </a:r>
            <a:endParaRPr lang="en-US" sz="600" dirty="0"/>
          </a:p>
        </p:txBody>
      </p:sp>
      <p:sp>
        <p:nvSpPr>
          <p:cNvPr id="83" name="Shape 81"/>
          <p:cNvSpPr/>
          <p:nvPr/>
        </p:nvSpPr>
        <p:spPr>
          <a:xfrm>
            <a:off x="4572000" y="1467612"/>
            <a:ext cx="2103120" cy="169164"/>
          </a:xfrm>
          <a:prstGeom prst="rect">
            <a:avLst/>
          </a:prstGeom>
          <a:solidFill>
            <a:srgbClr val="100820"/>
          </a:solidFill>
          <a:ln w="762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4" name="Text 82"/>
          <p:cNvSpPr/>
          <p:nvPr/>
        </p:nvSpPr>
        <p:spPr>
          <a:xfrm>
            <a:off x="4617720" y="1467612"/>
            <a:ext cx="130393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departure_datetime  FIX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5896966" y="1467612"/>
            <a:ext cx="757123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timestamptz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4572000" y="1636776"/>
            <a:ext cx="2103120" cy="169164"/>
          </a:xfrm>
          <a:prstGeom prst="rect">
            <a:avLst/>
          </a:prstGeom>
          <a:solidFill>
            <a:srgbClr val="100820"/>
          </a:solidFill>
          <a:ln w="762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7" name="Text 85"/>
          <p:cNvSpPr/>
          <p:nvPr/>
        </p:nvSpPr>
        <p:spPr>
          <a:xfrm>
            <a:off x="4617720" y="1636776"/>
            <a:ext cx="130393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arrival_datetime  NEW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5896966" y="1636776"/>
            <a:ext cx="757123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timestamptz</a:t>
            </a:r>
            <a:endParaRPr lang="en-US" sz="600" dirty="0"/>
          </a:p>
        </p:txBody>
      </p:sp>
      <p:sp>
        <p:nvSpPr>
          <p:cNvPr id="89" name="Shape 87"/>
          <p:cNvSpPr/>
          <p:nvPr/>
        </p:nvSpPr>
        <p:spPr>
          <a:xfrm>
            <a:off x="4572000" y="1805940"/>
            <a:ext cx="2103120" cy="169164"/>
          </a:xfrm>
          <a:prstGeom prst="rect">
            <a:avLst/>
          </a:prstGeom>
          <a:solidFill>
            <a:srgbClr val="100820"/>
          </a:solidFill>
          <a:ln w="762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0" name="Text 88"/>
          <p:cNvSpPr/>
          <p:nvPr/>
        </p:nvSpPr>
        <p:spPr>
          <a:xfrm>
            <a:off x="4617720" y="1805940"/>
            <a:ext cx="130393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duration_mins  NEW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5896966" y="1805940"/>
            <a:ext cx="757123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int4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4572000" y="1975104"/>
            <a:ext cx="2103120" cy="169164"/>
          </a:xfrm>
          <a:prstGeom prst="rect">
            <a:avLst/>
          </a:prstGeom>
          <a:solidFill>
            <a:srgbClr val="100820"/>
          </a:solidFill>
          <a:ln w="762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3" name="Text 91"/>
          <p:cNvSpPr/>
          <p:nvPr/>
        </p:nvSpPr>
        <p:spPr>
          <a:xfrm>
            <a:off x="4617720" y="1975104"/>
            <a:ext cx="130393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cabin_class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5896966" y="1975104"/>
            <a:ext cx="757123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</a:t>
            </a:r>
            <a:endParaRPr lang="en-US" sz="600" dirty="0"/>
          </a:p>
        </p:txBody>
      </p:sp>
      <p:sp>
        <p:nvSpPr>
          <p:cNvPr id="95" name="Shape 93"/>
          <p:cNvSpPr/>
          <p:nvPr/>
        </p:nvSpPr>
        <p:spPr>
          <a:xfrm>
            <a:off x="4572000" y="2144268"/>
            <a:ext cx="2103120" cy="169164"/>
          </a:xfrm>
          <a:prstGeom prst="rect">
            <a:avLst/>
          </a:prstGeom>
          <a:solidFill>
            <a:srgbClr val="100820"/>
          </a:solidFill>
          <a:ln w="762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6" name="Text 94"/>
          <p:cNvSpPr/>
          <p:nvPr/>
        </p:nvSpPr>
        <p:spPr>
          <a:xfrm>
            <a:off x="4617720" y="2144268"/>
            <a:ext cx="130393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price_aud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5896966" y="2144268"/>
            <a:ext cx="757123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int8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4572000" y="2542032"/>
            <a:ext cx="2103120" cy="246888"/>
          </a:xfrm>
          <a:prstGeom prst="rect">
            <a:avLst/>
          </a:prstGeom>
          <a:solidFill>
            <a:srgbClr val="180838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9" name="Text 97"/>
          <p:cNvSpPr/>
          <p:nvPr/>
        </p:nvSpPr>
        <p:spPr>
          <a:xfrm>
            <a:off x="4572000" y="254203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4B5FD"/>
                </a:solidFill>
              </a:rPr>
              <a:t>hotels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4572000" y="2788920"/>
            <a:ext cx="2103120" cy="169164"/>
          </a:xfrm>
          <a:prstGeom prst="rect">
            <a:avLst/>
          </a:prstGeom>
          <a:solidFill>
            <a:srgbClr val="100820"/>
          </a:solidFill>
          <a:ln w="762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1" name="Text 99"/>
          <p:cNvSpPr/>
          <p:nvPr/>
        </p:nvSpPr>
        <p:spPr>
          <a:xfrm>
            <a:off x="4617720" y="2788920"/>
            <a:ext cx="130393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PK  hotel_id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5896966" y="2788920"/>
            <a:ext cx="757123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</a:t>
            </a:r>
            <a:endParaRPr lang="en-US" sz="600" dirty="0"/>
          </a:p>
        </p:txBody>
      </p:sp>
      <p:sp>
        <p:nvSpPr>
          <p:cNvPr id="103" name="Shape 101"/>
          <p:cNvSpPr/>
          <p:nvPr/>
        </p:nvSpPr>
        <p:spPr>
          <a:xfrm>
            <a:off x="4572000" y="2958084"/>
            <a:ext cx="2103120" cy="169164"/>
          </a:xfrm>
          <a:prstGeom prst="rect">
            <a:avLst/>
          </a:prstGeom>
          <a:solidFill>
            <a:srgbClr val="100820"/>
          </a:solidFill>
          <a:ln w="762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4" name="Text 102"/>
          <p:cNvSpPr/>
          <p:nvPr/>
        </p:nvSpPr>
        <p:spPr>
          <a:xfrm>
            <a:off x="4617720" y="2958084"/>
            <a:ext cx="130393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hotel_name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5896966" y="2958084"/>
            <a:ext cx="757123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</a:t>
            </a:r>
            <a:endParaRPr lang="en-US" sz="600" dirty="0"/>
          </a:p>
        </p:txBody>
      </p:sp>
      <p:sp>
        <p:nvSpPr>
          <p:cNvPr id="106" name="Shape 104"/>
          <p:cNvSpPr/>
          <p:nvPr/>
        </p:nvSpPr>
        <p:spPr>
          <a:xfrm>
            <a:off x="4572000" y="3127248"/>
            <a:ext cx="2103120" cy="169164"/>
          </a:xfrm>
          <a:prstGeom prst="rect">
            <a:avLst/>
          </a:prstGeom>
          <a:solidFill>
            <a:srgbClr val="100820"/>
          </a:solidFill>
          <a:ln w="762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7" name="Text 105"/>
          <p:cNvSpPr/>
          <p:nvPr/>
        </p:nvSpPr>
        <p:spPr>
          <a:xfrm>
            <a:off x="4617720" y="3127248"/>
            <a:ext cx="130393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city  /  country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5896966" y="3127248"/>
            <a:ext cx="757123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</a:t>
            </a:r>
            <a:endParaRPr lang="en-US" sz="600" dirty="0"/>
          </a:p>
        </p:txBody>
      </p:sp>
      <p:sp>
        <p:nvSpPr>
          <p:cNvPr id="109" name="Shape 107"/>
          <p:cNvSpPr/>
          <p:nvPr/>
        </p:nvSpPr>
        <p:spPr>
          <a:xfrm>
            <a:off x="4572000" y="3296412"/>
            <a:ext cx="2103120" cy="169164"/>
          </a:xfrm>
          <a:prstGeom prst="rect">
            <a:avLst/>
          </a:prstGeom>
          <a:solidFill>
            <a:srgbClr val="100820"/>
          </a:solidFill>
          <a:ln w="762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0" name="Text 108"/>
          <p:cNvSpPr/>
          <p:nvPr/>
        </p:nvSpPr>
        <p:spPr>
          <a:xfrm>
            <a:off x="4617720" y="3296412"/>
            <a:ext cx="130393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star_rating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5896966" y="3296412"/>
            <a:ext cx="757123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float8</a:t>
            </a:r>
            <a:endParaRPr lang="en-US" sz="600" dirty="0"/>
          </a:p>
        </p:txBody>
      </p:sp>
      <p:sp>
        <p:nvSpPr>
          <p:cNvPr id="112" name="Shape 110"/>
          <p:cNvSpPr/>
          <p:nvPr/>
        </p:nvSpPr>
        <p:spPr>
          <a:xfrm>
            <a:off x="4572000" y="3465576"/>
            <a:ext cx="2103120" cy="169164"/>
          </a:xfrm>
          <a:prstGeom prst="rect">
            <a:avLst/>
          </a:prstGeom>
          <a:solidFill>
            <a:srgbClr val="100820"/>
          </a:solidFill>
          <a:ln w="762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3" name="Text 111"/>
          <p:cNvSpPr/>
          <p:nvPr/>
        </p:nvSpPr>
        <p:spPr>
          <a:xfrm>
            <a:off x="4617720" y="3465576"/>
            <a:ext cx="130393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room_type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5896966" y="3465576"/>
            <a:ext cx="757123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</a:t>
            </a:r>
            <a:endParaRPr lang="en-US" sz="600" dirty="0"/>
          </a:p>
        </p:txBody>
      </p:sp>
      <p:sp>
        <p:nvSpPr>
          <p:cNvPr id="115" name="Shape 113"/>
          <p:cNvSpPr/>
          <p:nvPr/>
        </p:nvSpPr>
        <p:spPr>
          <a:xfrm>
            <a:off x="4572000" y="3634740"/>
            <a:ext cx="2103120" cy="169164"/>
          </a:xfrm>
          <a:prstGeom prst="rect">
            <a:avLst/>
          </a:prstGeom>
          <a:solidFill>
            <a:srgbClr val="100820"/>
          </a:solidFill>
          <a:ln w="762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6" name="Text 114"/>
          <p:cNvSpPr/>
          <p:nvPr/>
        </p:nvSpPr>
        <p:spPr>
          <a:xfrm>
            <a:off x="4617720" y="3634740"/>
            <a:ext cx="130393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amenities  NEW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5896966" y="3634740"/>
            <a:ext cx="757123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</a:t>
            </a:r>
            <a:endParaRPr lang="en-US" sz="600" dirty="0"/>
          </a:p>
        </p:txBody>
      </p:sp>
      <p:sp>
        <p:nvSpPr>
          <p:cNvPr id="118" name="Shape 116"/>
          <p:cNvSpPr/>
          <p:nvPr/>
        </p:nvSpPr>
        <p:spPr>
          <a:xfrm>
            <a:off x="4572000" y="3803904"/>
            <a:ext cx="2103120" cy="169164"/>
          </a:xfrm>
          <a:prstGeom prst="rect">
            <a:avLst/>
          </a:prstGeom>
          <a:solidFill>
            <a:srgbClr val="100820"/>
          </a:solidFill>
          <a:ln w="762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9" name="Text 117"/>
          <p:cNvSpPr/>
          <p:nvPr/>
        </p:nvSpPr>
        <p:spPr>
          <a:xfrm>
            <a:off x="4617720" y="3803904"/>
            <a:ext cx="130393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price_per_night_aud</a:t>
            </a:r>
            <a:endParaRPr lang="en-US" sz="700" dirty="0"/>
          </a:p>
        </p:txBody>
      </p:sp>
      <p:sp>
        <p:nvSpPr>
          <p:cNvPr id="120" name="Text 118"/>
          <p:cNvSpPr/>
          <p:nvPr/>
        </p:nvSpPr>
        <p:spPr>
          <a:xfrm>
            <a:off x="5896966" y="3803904"/>
            <a:ext cx="757123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int8</a:t>
            </a:r>
            <a:endParaRPr lang="en-US" sz="600" dirty="0"/>
          </a:p>
        </p:txBody>
      </p:sp>
      <p:sp>
        <p:nvSpPr>
          <p:cNvPr id="121" name="Shape 119"/>
          <p:cNvSpPr/>
          <p:nvPr/>
        </p:nvSpPr>
        <p:spPr>
          <a:xfrm>
            <a:off x="4572000" y="4114800"/>
            <a:ext cx="2103120" cy="246888"/>
          </a:xfrm>
          <a:prstGeom prst="rect">
            <a:avLst/>
          </a:prstGeom>
          <a:solidFill>
            <a:srgbClr val="180838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2" name="Text 120"/>
          <p:cNvSpPr/>
          <p:nvPr/>
        </p:nvSpPr>
        <p:spPr>
          <a:xfrm>
            <a:off x="4572000" y="411480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4B5FD"/>
                </a:solidFill>
              </a:rPr>
              <a:t>activities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4572000" y="4361688"/>
            <a:ext cx="2103120" cy="169164"/>
          </a:xfrm>
          <a:prstGeom prst="rect">
            <a:avLst/>
          </a:prstGeom>
          <a:solidFill>
            <a:srgbClr val="100820"/>
          </a:solidFill>
          <a:ln w="762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4" name="Text 122"/>
          <p:cNvSpPr/>
          <p:nvPr/>
        </p:nvSpPr>
        <p:spPr>
          <a:xfrm>
            <a:off x="4617720" y="4361688"/>
            <a:ext cx="130393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PK  activity_id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5896966" y="4361688"/>
            <a:ext cx="757123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</a:t>
            </a:r>
            <a:endParaRPr lang="en-US" sz="600" dirty="0"/>
          </a:p>
        </p:txBody>
      </p:sp>
      <p:sp>
        <p:nvSpPr>
          <p:cNvPr id="126" name="Shape 124"/>
          <p:cNvSpPr/>
          <p:nvPr/>
        </p:nvSpPr>
        <p:spPr>
          <a:xfrm>
            <a:off x="4572000" y="4530852"/>
            <a:ext cx="2103120" cy="169164"/>
          </a:xfrm>
          <a:prstGeom prst="rect">
            <a:avLst/>
          </a:prstGeom>
          <a:solidFill>
            <a:srgbClr val="100820"/>
          </a:solidFill>
          <a:ln w="762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7" name="Text 125"/>
          <p:cNvSpPr/>
          <p:nvPr/>
        </p:nvSpPr>
        <p:spPr>
          <a:xfrm>
            <a:off x="4617720" y="4530852"/>
            <a:ext cx="130393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activity_name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5896966" y="4530852"/>
            <a:ext cx="757123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</a:t>
            </a:r>
            <a:endParaRPr lang="en-US" sz="600" dirty="0"/>
          </a:p>
        </p:txBody>
      </p:sp>
      <p:sp>
        <p:nvSpPr>
          <p:cNvPr id="129" name="Shape 127"/>
          <p:cNvSpPr/>
          <p:nvPr/>
        </p:nvSpPr>
        <p:spPr>
          <a:xfrm>
            <a:off x="4572000" y="4700016"/>
            <a:ext cx="2103120" cy="169164"/>
          </a:xfrm>
          <a:prstGeom prst="rect">
            <a:avLst/>
          </a:prstGeom>
          <a:solidFill>
            <a:srgbClr val="100820"/>
          </a:solidFill>
          <a:ln w="762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0" name="Text 128"/>
          <p:cNvSpPr/>
          <p:nvPr/>
        </p:nvSpPr>
        <p:spPr>
          <a:xfrm>
            <a:off x="4617720" y="4700016"/>
            <a:ext cx="130393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city  /  category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5896966" y="4700016"/>
            <a:ext cx="757123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text</a:t>
            </a:r>
            <a:endParaRPr lang="en-US" sz="600" dirty="0"/>
          </a:p>
        </p:txBody>
      </p:sp>
      <p:sp>
        <p:nvSpPr>
          <p:cNvPr id="132" name="Shape 130"/>
          <p:cNvSpPr/>
          <p:nvPr/>
        </p:nvSpPr>
        <p:spPr>
          <a:xfrm>
            <a:off x="4572000" y="4869180"/>
            <a:ext cx="2103120" cy="169164"/>
          </a:xfrm>
          <a:prstGeom prst="rect">
            <a:avLst/>
          </a:prstGeom>
          <a:solidFill>
            <a:srgbClr val="100820"/>
          </a:solidFill>
          <a:ln w="762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3" name="Text 131"/>
          <p:cNvSpPr/>
          <p:nvPr/>
        </p:nvSpPr>
        <p:spPr>
          <a:xfrm>
            <a:off x="4617720" y="4869180"/>
            <a:ext cx="130393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price_aud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5896966" y="4869180"/>
            <a:ext cx="757123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int8</a:t>
            </a:r>
            <a:endParaRPr lang="en-US" sz="600" dirty="0"/>
          </a:p>
        </p:txBody>
      </p:sp>
      <p:sp>
        <p:nvSpPr>
          <p:cNvPr id="135" name="Shape 133"/>
          <p:cNvSpPr/>
          <p:nvPr/>
        </p:nvSpPr>
        <p:spPr>
          <a:xfrm>
            <a:off x="4572000" y="5038344"/>
            <a:ext cx="2103120" cy="169164"/>
          </a:xfrm>
          <a:prstGeom prst="rect">
            <a:avLst/>
          </a:prstGeom>
          <a:solidFill>
            <a:srgbClr val="100820"/>
          </a:solidFill>
          <a:ln w="762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6" name="Text 134"/>
          <p:cNvSpPr/>
          <p:nvPr/>
        </p:nvSpPr>
        <p:spPr>
          <a:xfrm>
            <a:off x="4617720" y="5038344"/>
            <a:ext cx="130393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rating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5896966" y="5038344"/>
            <a:ext cx="757123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float8</a:t>
            </a:r>
            <a:endParaRPr lang="en-US" sz="600" dirty="0"/>
          </a:p>
        </p:txBody>
      </p:sp>
      <p:sp>
        <p:nvSpPr>
          <p:cNvPr id="138" name="Shape 136"/>
          <p:cNvSpPr/>
          <p:nvPr/>
        </p:nvSpPr>
        <p:spPr>
          <a:xfrm>
            <a:off x="4572000" y="5207508"/>
            <a:ext cx="2103120" cy="169164"/>
          </a:xfrm>
          <a:prstGeom prst="rect">
            <a:avLst/>
          </a:prstGeom>
          <a:solidFill>
            <a:srgbClr val="100820"/>
          </a:solidFill>
          <a:ln w="762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9" name="Text 137"/>
          <p:cNvSpPr/>
          <p:nvPr/>
        </p:nvSpPr>
        <p:spPr>
          <a:xfrm>
            <a:off x="4617720" y="5207508"/>
            <a:ext cx="130393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5CAE0"/>
                </a:solidFill>
              </a:rPr>
              <a:t>duration_hours  NEW</a:t>
            </a:r>
            <a:endParaRPr lang="en-US" sz="700" dirty="0"/>
          </a:p>
        </p:txBody>
      </p:sp>
      <p:sp>
        <p:nvSpPr>
          <p:cNvPr id="140" name="Text 138"/>
          <p:cNvSpPr/>
          <p:nvPr/>
        </p:nvSpPr>
        <p:spPr>
          <a:xfrm>
            <a:off x="5896966" y="5207508"/>
            <a:ext cx="757123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7280"/>
                </a:solidFill>
              </a:rPr>
              <a:t>float8</a:t>
            </a:r>
            <a:endParaRPr lang="en-US" sz="600" dirty="0"/>
          </a:p>
        </p:txBody>
      </p:sp>
      <p:sp>
        <p:nvSpPr>
          <p:cNvPr id="141" name="Shape 139"/>
          <p:cNvSpPr/>
          <p:nvPr/>
        </p:nvSpPr>
        <p:spPr>
          <a:xfrm>
            <a:off x="1965960" y="1259586"/>
            <a:ext cx="320040" cy="0"/>
          </a:xfrm>
          <a:prstGeom prst="line">
            <a:avLst/>
          </a:prstGeom>
          <a:noFill/>
          <a:ln w="13970">
            <a:solidFill>
              <a:srgbClr val="5B8DE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142" name="Text 140"/>
          <p:cNvSpPr/>
          <p:nvPr/>
        </p:nvSpPr>
        <p:spPr>
          <a:xfrm>
            <a:off x="1988820" y="1094994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B8DEE"/>
                </a:solidFill>
              </a:rPr>
              <a:t>1:M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1965960" y="2740914"/>
            <a:ext cx="320040" cy="0"/>
          </a:xfrm>
          <a:prstGeom prst="line">
            <a:avLst/>
          </a:prstGeom>
          <a:noFill/>
          <a:ln w="13970">
            <a:solidFill>
              <a:srgbClr val="5B8DE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144" name="Shape 142"/>
          <p:cNvSpPr/>
          <p:nvPr/>
        </p:nvSpPr>
        <p:spPr>
          <a:xfrm>
            <a:off x="1965960" y="4112514"/>
            <a:ext cx="320040" cy="0"/>
          </a:xfrm>
          <a:prstGeom prst="line">
            <a:avLst/>
          </a:prstGeom>
          <a:noFill/>
          <a:ln w="13970">
            <a:solidFill>
              <a:srgbClr val="5B8DE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145" name="Shape 143"/>
          <p:cNvSpPr/>
          <p:nvPr/>
        </p:nvSpPr>
        <p:spPr>
          <a:xfrm>
            <a:off x="4297680" y="1513332"/>
            <a:ext cx="274320" cy="0"/>
          </a:xfrm>
          <a:prstGeom prst="line">
            <a:avLst/>
          </a:prstGeom>
          <a:noFill/>
          <a:ln w="13970">
            <a:solidFill>
              <a:srgbClr val="4ECDC4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146" name="Text 144"/>
          <p:cNvSpPr/>
          <p:nvPr/>
        </p:nvSpPr>
        <p:spPr>
          <a:xfrm>
            <a:off x="4297680" y="13487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ECDC4"/>
                </a:solidFill>
              </a:rPr>
              <a:t>M:1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4297680" y="3257550"/>
            <a:ext cx="274320" cy="0"/>
          </a:xfrm>
          <a:prstGeom prst="line">
            <a:avLst/>
          </a:prstGeom>
          <a:noFill/>
          <a:ln w="13970">
            <a:solidFill>
              <a:srgbClr val="4ECDC4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148" name="Shape 146"/>
          <p:cNvSpPr/>
          <p:nvPr/>
        </p:nvSpPr>
        <p:spPr>
          <a:xfrm>
            <a:off x="4297680" y="4745736"/>
            <a:ext cx="274320" cy="0"/>
          </a:xfrm>
          <a:prstGeom prst="line">
            <a:avLst/>
          </a:prstGeom>
          <a:noFill/>
          <a:ln w="13970">
            <a:solidFill>
              <a:srgbClr val="4ECDC4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149" name="Shape 147"/>
          <p:cNvSpPr/>
          <p:nvPr/>
        </p:nvSpPr>
        <p:spPr>
          <a:xfrm>
            <a:off x="6949440" y="685800"/>
            <a:ext cx="1965960" cy="777240"/>
          </a:xfrm>
          <a:prstGeom prst="rect">
            <a:avLst/>
          </a:prstGeom>
          <a:solidFill>
            <a:srgbClr val="1A1F35"/>
          </a:solidFill>
          <a:ln w="12700">
            <a:solidFill>
              <a:srgbClr val="3A3F5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0" name="Text 148"/>
          <p:cNvSpPr/>
          <p:nvPr/>
        </p:nvSpPr>
        <p:spPr>
          <a:xfrm>
            <a:off x="7040880" y="7406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Field Tags</a:t>
            </a:r>
            <a:endParaRPr lang="en-US" sz="800" dirty="0"/>
          </a:p>
        </p:txBody>
      </p:sp>
      <p:sp>
        <p:nvSpPr>
          <p:cNvPr id="151" name="Text 149"/>
          <p:cNvSpPr/>
          <p:nvPr/>
        </p:nvSpPr>
        <p:spPr>
          <a:xfrm>
            <a:off x="7040880" y="9601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4D399"/>
                </a:solidFill>
              </a:rPr>
              <a:t>NEW  — Field added in revision</a:t>
            </a:r>
            <a:endParaRPr lang="en-US" sz="750" dirty="0"/>
          </a:p>
        </p:txBody>
      </p:sp>
      <p:sp>
        <p:nvSpPr>
          <p:cNvPr id="152" name="Text 150"/>
          <p:cNvSpPr/>
          <p:nvPr/>
        </p:nvSpPr>
        <p:spPr>
          <a:xfrm>
            <a:off x="7040880" y="11612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</a:rPr>
              <a:t>FIX    — Data type corrected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Package Lifecycle — State Machine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43891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9CA3AF"/>
                </a:solidFill>
              </a:rPr>
              <a:t>Values of </a:t>
            </a:r>
            <a:r>
              <a:rPr lang="en-US" sz="900" dirty="0" err="1">
                <a:solidFill>
                  <a:srgbClr val="9CA3AF"/>
                </a:solidFill>
              </a:rPr>
              <a:t>travel_packages.status</a:t>
            </a:r>
            <a:r>
              <a:rPr lang="en-US" sz="900" dirty="0">
                <a:solidFill>
                  <a:srgbClr val="9CA3AF"/>
                </a:solidFill>
              </a:rPr>
              <a:t>  ·, FR-A-100/101/102FR-I-100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28600" y="1783080"/>
            <a:ext cx="1463040" cy="658368"/>
          </a:xfrm>
          <a:prstGeom prst="rect">
            <a:avLst/>
          </a:prstGeom>
          <a:solidFill>
            <a:srgbClr val="1A1F35"/>
          </a:solidFill>
          <a:ln w="254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228600" y="18562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C5FD"/>
                </a:solidFill>
              </a:rPr>
              <a:t>DRAFT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20848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</a:rPr>
              <a:t>Influencer editing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</a:rPr>
              <a:t>not visible publicly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011680" y="1783080"/>
            <a:ext cx="1691640" cy="658368"/>
          </a:xfrm>
          <a:prstGeom prst="rect">
            <a:avLst/>
          </a:prstGeom>
          <a:solidFill>
            <a:srgbClr val="1F1A0A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2011680" y="18562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D34D"/>
                </a:solidFill>
              </a:rPr>
              <a:t>PENDING REVIEW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57400" y="208483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</a:rPr>
              <a:t>Awaiting admin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</a:rPr>
              <a:t>review queue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0" y="777240"/>
            <a:ext cx="1463040" cy="658368"/>
          </a:xfrm>
          <a:prstGeom prst="rect">
            <a:avLst/>
          </a:prstGeom>
          <a:solidFill>
            <a:srgbClr val="0A1F18"/>
          </a:solidFill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4114800" y="8503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EE7B7"/>
                </a:solidFill>
              </a:rPr>
              <a:t>APPROVED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60520" y="10789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</a:rPr>
              <a:t>Admin approved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</a:rPr>
              <a:t>ready to publish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114800" y="2834640"/>
            <a:ext cx="1463040" cy="658368"/>
          </a:xfrm>
          <a:prstGeom prst="rect">
            <a:avLst/>
          </a:prstGeom>
          <a:solidFill>
            <a:srgbClr val="1F0A0A"/>
          </a:solidFill>
          <a:ln w="254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114800" y="29077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A5A5"/>
                </a:solidFill>
              </a:rPr>
              <a:t>REJECTED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60520" y="31363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</a:rPr>
              <a:t>Admin rejected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</a:rPr>
              <a:t>reason provided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35040" y="777240"/>
            <a:ext cx="1463040" cy="658368"/>
          </a:xfrm>
          <a:prstGeom prst="rect">
            <a:avLst/>
          </a:prstGeom>
          <a:solidFill>
            <a:srgbClr val="052E16"/>
          </a:solidFill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6035040" y="8503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</a:rPr>
              <a:t>LIVE 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0760" y="10789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</a:rPr>
              <a:t>On marketplace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</a:rPr>
              <a:t>customers can view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035040" y="2834640"/>
            <a:ext cx="1371600" cy="658368"/>
          </a:xfrm>
          <a:prstGeom prst="rect">
            <a:avLst/>
          </a:prstGeom>
          <a:solidFill>
            <a:srgbClr val="1A1F35"/>
          </a:solidFill>
          <a:ln w="254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6035040" y="2907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CA3AF"/>
                </a:solidFill>
              </a:rPr>
              <a:t>ARCHIVED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80760" y="31363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</a:rPr>
              <a:t>Removed from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</a:rPr>
              <a:t>listing, data kept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691640" y="2084832"/>
            <a:ext cx="320040" cy="0"/>
          </a:xfrm>
          <a:prstGeom prst="line">
            <a:avLst/>
          </a:prstGeom>
          <a:noFill/>
          <a:ln w="13970">
            <a:solidFill>
              <a:srgbClr val="60A5FA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1097280" y="150876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0A5FA"/>
                </a:solidFill>
              </a:rPr>
              <a:t>submit()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60A5FA"/>
                </a:solidFill>
              </a:rPr>
              <a:t>Influencer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703320" y="2112264"/>
            <a:ext cx="182880" cy="0"/>
          </a:xfrm>
          <a:prstGeom prst="line">
            <a:avLst/>
          </a:prstGeom>
          <a:noFill/>
          <a:ln w="13970">
            <a:solidFill>
              <a:srgbClr val="34D399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3886200" y="1106424"/>
            <a:ext cx="0" cy="1005840"/>
          </a:xfrm>
          <a:prstGeom prst="line">
            <a:avLst/>
          </a:prstGeom>
          <a:noFill/>
          <a:ln w="13970">
            <a:solidFill>
              <a:srgbClr val="34D399"/>
            </a:solidFill>
            <a:prstDash val="solid"/>
            <a:headEnd type="arrow"/>
            <a:tailEnd type="none"/>
          </a:ln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3886200" y="1106424"/>
            <a:ext cx="228600" cy="0"/>
          </a:xfrm>
          <a:prstGeom prst="line">
            <a:avLst/>
          </a:prstGeom>
          <a:noFill/>
          <a:ln w="13970">
            <a:solidFill>
              <a:srgbClr val="34D399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3193473" y="1078992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4D399"/>
                </a:solidFill>
              </a:rPr>
              <a:t>approve()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34D399"/>
                </a:solidFill>
              </a:rPr>
              <a:t>Admin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703320" y="2112264"/>
            <a:ext cx="182880" cy="0"/>
          </a:xfrm>
          <a:prstGeom prst="line">
            <a:avLst/>
          </a:prstGeom>
          <a:noFill/>
          <a:ln w="13970">
            <a:solidFill>
              <a:srgbClr val="F87171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29" name="Shape 27"/>
          <p:cNvSpPr/>
          <p:nvPr/>
        </p:nvSpPr>
        <p:spPr>
          <a:xfrm>
            <a:off x="3886200" y="2112264"/>
            <a:ext cx="0" cy="1051560"/>
          </a:xfrm>
          <a:prstGeom prst="line">
            <a:avLst/>
          </a:prstGeom>
          <a:noFill/>
          <a:ln w="13970">
            <a:solidFill>
              <a:srgbClr val="F87171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30" name="Shape 28"/>
          <p:cNvSpPr/>
          <p:nvPr/>
        </p:nvSpPr>
        <p:spPr>
          <a:xfrm>
            <a:off x="3886200" y="3163824"/>
            <a:ext cx="228600" cy="0"/>
          </a:xfrm>
          <a:prstGeom prst="line">
            <a:avLst/>
          </a:prstGeom>
          <a:noFill/>
          <a:ln w="13970">
            <a:solidFill>
              <a:srgbClr val="F87171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3291840" y="325526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87171"/>
                </a:solidFill>
              </a:rPr>
              <a:t>reject(reason)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87171"/>
                </a:solidFill>
              </a:rPr>
              <a:t>Admin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577840" y="1106424"/>
            <a:ext cx="457200" cy="0"/>
          </a:xfrm>
          <a:prstGeom prst="line">
            <a:avLst/>
          </a:prstGeom>
          <a:noFill/>
          <a:ln w="13970">
            <a:solidFill>
              <a:srgbClr val="34D399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33" name="Text 31"/>
          <p:cNvSpPr/>
          <p:nvPr/>
        </p:nvSpPr>
        <p:spPr>
          <a:xfrm>
            <a:off x="5372099" y="476458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4D399"/>
                </a:solidFill>
              </a:rPr>
              <a:t>publish()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34D399"/>
                </a:solidFill>
              </a:rPr>
              <a:t>Auto/Admin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766560" y="1435608"/>
            <a:ext cx="0" cy="1399032"/>
          </a:xfrm>
          <a:prstGeom prst="line">
            <a:avLst/>
          </a:prstGeom>
          <a:noFill/>
          <a:ln w="13970">
            <a:solidFill>
              <a:srgbClr val="6B7280"/>
            </a:solidFill>
            <a:prstDash val="dash"/>
            <a:headEnd type="none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35" name="Text 33"/>
          <p:cNvSpPr/>
          <p:nvPr/>
        </p:nvSpPr>
        <p:spPr>
          <a:xfrm>
            <a:off x="6949440" y="18288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</a:rPr>
              <a:t>archive()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846320" y="3493008"/>
            <a:ext cx="0" cy="850392"/>
          </a:xfrm>
          <a:prstGeom prst="line">
            <a:avLst/>
          </a:prstGeom>
          <a:noFill/>
          <a:ln w="13970">
            <a:solidFill>
              <a:srgbClr val="F59E0B"/>
            </a:solidFill>
            <a:prstDash val="dash"/>
            <a:headEnd type="none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37" name="Shape 35"/>
          <p:cNvSpPr/>
          <p:nvPr/>
        </p:nvSpPr>
        <p:spPr>
          <a:xfrm>
            <a:off x="960120" y="4343400"/>
            <a:ext cx="3886200" cy="0"/>
          </a:xfrm>
          <a:prstGeom prst="line">
            <a:avLst/>
          </a:prstGeom>
          <a:noFill/>
          <a:ln w="13970">
            <a:solidFill>
              <a:srgbClr val="F59E0B"/>
            </a:solidFill>
            <a:prstDash val="dash"/>
            <a:headEnd type="none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38" name="Shape 36"/>
          <p:cNvSpPr/>
          <p:nvPr/>
        </p:nvSpPr>
        <p:spPr>
          <a:xfrm>
            <a:off x="960120" y="2441448"/>
            <a:ext cx="0" cy="1901952"/>
          </a:xfrm>
          <a:prstGeom prst="line">
            <a:avLst/>
          </a:prstGeom>
          <a:noFill/>
          <a:ln w="13970">
            <a:solidFill>
              <a:srgbClr val="F59E0B"/>
            </a:solidFill>
            <a:prstDash val="dash"/>
            <a:headEnd type="none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39" name="Text 37"/>
          <p:cNvSpPr/>
          <p:nvPr/>
        </p:nvSpPr>
        <p:spPr>
          <a:xfrm>
            <a:off x="457200" y="443484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59E0B"/>
                </a:solidFill>
              </a:rPr>
              <a:t>revise() → back to Draft  (Influencer edits and resubmits)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680960" y="777240"/>
            <a:ext cx="1325880" cy="1508760"/>
          </a:xfrm>
          <a:prstGeom prst="rect">
            <a:avLst/>
          </a:prstGeom>
          <a:solidFill>
            <a:srgbClr val="1A1F35"/>
          </a:solidFill>
          <a:ln w="12700">
            <a:solidFill>
              <a:srgbClr val="3A3F5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1" name="Text 39"/>
          <p:cNvSpPr/>
          <p:nvPr/>
        </p:nvSpPr>
        <p:spPr>
          <a:xfrm>
            <a:off x="7772400" y="82296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Actors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772400" y="1097280"/>
            <a:ext cx="128016" cy="12801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3" name="Text 41"/>
          <p:cNvSpPr/>
          <p:nvPr/>
        </p:nvSpPr>
        <p:spPr>
          <a:xfrm>
            <a:off x="7955280" y="106984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5CAE0"/>
                </a:solidFill>
              </a:rPr>
              <a:t>Influencer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772400" y="1444752"/>
            <a:ext cx="128016" cy="12801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5" name="Text 43"/>
          <p:cNvSpPr/>
          <p:nvPr/>
        </p:nvSpPr>
        <p:spPr>
          <a:xfrm>
            <a:off x="7955280" y="1417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5CAE0"/>
                </a:solidFill>
              </a:rPr>
              <a:t>Admin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772400" y="1792224"/>
            <a:ext cx="128016" cy="12801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7" name="Text 45"/>
          <p:cNvSpPr/>
          <p:nvPr/>
        </p:nvSpPr>
        <p:spPr>
          <a:xfrm>
            <a:off x="7955280" y="17647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5CAE0"/>
                </a:solidFill>
              </a:rPr>
              <a:t>System/Auto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43891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Four-tier layered architecture  ·  Next.js  ·  FastAPI  ·  LangChain RAG  ·  Supabase PostgreSQL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37160" y="671352"/>
            <a:ext cx="8869680" cy="943832"/>
          </a:xfrm>
          <a:prstGeom prst="rect">
            <a:avLst/>
          </a:prstGeom>
          <a:solidFill>
            <a:srgbClr val="0A0F1A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137160" y="1737690"/>
            <a:ext cx="8869680" cy="914690"/>
          </a:xfrm>
          <a:prstGeom prst="rect">
            <a:avLst/>
          </a:prstGeom>
          <a:solidFill>
            <a:srgbClr val="0A150A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137160" y="2790728"/>
            <a:ext cx="8869680" cy="866304"/>
          </a:xfrm>
          <a:prstGeom prst="rect">
            <a:avLst/>
          </a:prstGeom>
          <a:solidFill>
            <a:srgbClr val="110820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137160" y="3772022"/>
            <a:ext cx="8869680" cy="1139414"/>
          </a:xfrm>
          <a:prstGeom prst="rect">
            <a:avLst/>
          </a:prstGeom>
          <a:solidFill>
            <a:srgbClr val="030F0F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182880" y="1020824"/>
            <a:ext cx="201168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237744" y="10574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B82F6"/>
                </a:solidFill>
              </a:rPr>
              <a:t>Influencer Dashboard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37744" y="1267712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Package builder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Drag-and-drop + AI sidebar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377440" y="1020824"/>
            <a:ext cx="219456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2432304" y="10574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B82F6"/>
                </a:solidFill>
              </a:rPr>
              <a:t>Admin Dashboard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432304" y="1267712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Approval queue + review table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Approve / Reject actions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754880" y="1020824"/>
            <a:ext cx="219456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4809744" y="10574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B82F6"/>
                </a:solidFill>
              </a:rPr>
              <a:t>Marketplace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09744" y="1267712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Package listing + search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Package detail page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132320" y="1020824"/>
            <a:ext cx="178308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7187184" y="105740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B82F6"/>
                </a:solidFill>
              </a:rPr>
              <a:t>Shared Components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187184" y="1267712"/>
            <a:ext cx="1691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Auth guard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Media viewer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82880" y="2040207"/>
            <a:ext cx="155448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237744" y="2076783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2C55E"/>
                </a:solidFill>
              </a:rPr>
              <a:t>/packages API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37744" y="2287095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CRUD · Submit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Status management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874520" y="2040207"/>
            <a:ext cx="155448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1929384" y="2076783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2C55E"/>
                </a:solidFill>
              </a:rPr>
              <a:t>/approvals API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929384" y="2287095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Approve / Reject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Admin queue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566160" y="2040207"/>
            <a:ext cx="155448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3621024" y="2076783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2C55E"/>
                </a:solidFill>
              </a:rPr>
              <a:t>/media API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21024" y="2287095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Upload photos/video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Supabase Storage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257800" y="2040207"/>
            <a:ext cx="155448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5312664" y="2076783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2C55E"/>
                </a:solidFill>
              </a:rPr>
              <a:t>/ai API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12664" y="2287095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Suggestions endpoint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Log accepted/rejected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949440" y="2040207"/>
            <a:ext cx="196596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3" name="Text 31"/>
          <p:cNvSpPr/>
          <p:nvPr/>
        </p:nvSpPr>
        <p:spPr>
          <a:xfrm>
            <a:off x="7004304" y="2076783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2C55E"/>
                </a:solidFill>
              </a:rPr>
              <a:t>Auth Middleware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004304" y="2287095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JWT · Role checks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influencer/admin/customer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82880" y="3084999"/>
            <a:ext cx="201168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6" name="Text 34"/>
          <p:cNvSpPr/>
          <p:nvPr/>
        </p:nvSpPr>
        <p:spPr>
          <a:xfrm>
            <a:off x="237744" y="3121575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78BFA"/>
                </a:solidFill>
              </a:rPr>
              <a:t>RAG Pipeline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37744" y="3331887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LangChain + GPT-4o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Destination knowledge base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377440" y="3084999"/>
            <a:ext cx="210312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9" name="Text 37"/>
          <p:cNvSpPr/>
          <p:nvPr/>
        </p:nvSpPr>
        <p:spPr>
          <a:xfrm>
            <a:off x="2432304" y="3121575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78BFA"/>
                </a:solidFill>
              </a:rPr>
              <a:t>Feasibility Validator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432304" y="3331887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Connection times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Visa / seasonality checks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663440" y="3084999"/>
            <a:ext cx="210312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2" name="Text 40"/>
          <p:cNvSpPr/>
          <p:nvPr/>
        </p:nvSpPr>
        <p:spPr>
          <a:xfrm>
            <a:off x="4718304" y="3121575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78BFA"/>
                </a:solidFill>
              </a:rPr>
              <a:t>Suggestion Engine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18304" y="3331887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Context-aware recs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Flight / Hotel / Activity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949440" y="3084999"/>
            <a:ext cx="196596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5" name="Text 43"/>
          <p:cNvSpPr/>
          <p:nvPr/>
        </p:nvSpPr>
        <p:spPr>
          <a:xfrm>
            <a:off x="7004304" y="3121575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78BFA"/>
                </a:solidFill>
              </a:rPr>
              <a:t>Vector Store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004304" y="3331887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Chroma / Pinecone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Embeddings index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82880" y="4107857"/>
            <a:ext cx="141732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8" name="Text 46"/>
          <p:cNvSpPr/>
          <p:nvPr/>
        </p:nvSpPr>
        <p:spPr>
          <a:xfrm>
            <a:off x="237744" y="4144433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D4BF"/>
                </a:solidFill>
              </a:rPr>
              <a:t>travel_packages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37744" y="4354745"/>
            <a:ext cx="1325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Core entity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664208" y="4107857"/>
            <a:ext cx="141732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1" name="Text 49"/>
          <p:cNvSpPr/>
          <p:nvPr/>
        </p:nvSpPr>
        <p:spPr>
          <a:xfrm>
            <a:off x="1719072" y="4144433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D4BF"/>
                </a:solidFill>
              </a:rPr>
              <a:t>users + profiles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719072" y="4354745"/>
            <a:ext cx="1325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Auth &amp; creator data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3145536" y="4107857"/>
            <a:ext cx="141732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4" name="Text 52"/>
          <p:cNvSpPr/>
          <p:nvPr/>
        </p:nvSpPr>
        <p:spPr>
          <a:xfrm>
            <a:off x="3200400" y="4144433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D4BF"/>
                </a:solidFill>
              </a:rPr>
              <a:t>pkg_flights/hotels/activities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200400" y="4354745"/>
            <a:ext cx="1325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Junction tables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626864" y="4107857"/>
            <a:ext cx="141732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7" name="Text 55"/>
          <p:cNvSpPr/>
          <p:nvPr/>
        </p:nvSpPr>
        <p:spPr>
          <a:xfrm>
            <a:off x="4681728" y="4144433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D4BF"/>
                </a:solidFill>
              </a:rPr>
              <a:t>flights/hotels/activities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681728" y="4354745"/>
            <a:ext cx="1325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Reference (mock)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108192" y="4107857"/>
            <a:ext cx="141732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0" name="Text 58"/>
          <p:cNvSpPr/>
          <p:nvPr/>
        </p:nvSpPr>
        <p:spPr>
          <a:xfrm>
            <a:off x="6163056" y="4144433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D4BF"/>
                </a:solidFill>
              </a:rPr>
              <a:t>approvals + ai_suggestions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163056" y="4354745"/>
            <a:ext cx="1325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Workflow &amp; AI log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7589520" y="4107857"/>
            <a:ext cx="1316736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3" name="Text 61"/>
          <p:cNvSpPr/>
          <p:nvPr/>
        </p:nvSpPr>
        <p:spPr>
          <a:xfrm>
            <a:off x="7644384" y="4144433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D4BF"/>
                </a:solidFill>
              </a:rPr>
              <a:t>package_media + reviews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644384" y="4354745"/>
            <a:ext cx="1325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CA3AF"/>
                </a:solidFill>
              </a:rPr>
              <a:t>Media &amp; marketplace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137160" y="671352"/>
            <a:ext cx="8869680" cy="256032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6" name="Text 64"/>
          <p:cNvSpPr/>
          <p:nvPr/>
        </p:nvSpPr>
        <p:spPr>
          <a:xfrm>
            <a:off x="228600" y="70792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B82F6"/>
                </a:solidFill>
              </a:rPr>
              <a:t>FRONTEND  —  Next.js (React) + Tailwind CSS  ·  Vercel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137160" y="1737690"/>
            <a:ext cx="8869680" cy="256032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8" name="Text 66"/>
          <p:cNvSpPr/>
          <p:nvPr/>
        </p:nvSpPr>
        <p:spPr>
          <a:xfrm>
            <a:off x="228600" y="177426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2C55E"/>
                </a:solidFill>
              </a:rPr>
              <a:t>BACKEND  —  FastAPI (Python)  ·  REST API  ·  JWT Auth  ·  Role Middleware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137160" y="2790728"/>
            <a:ext cx="8869680" cy="256032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0" name="Text 68"/>
          <p:cNvSpPr/>
          <p:nvPr/>
        </p:nvSpPr>
        <p:spPr>
          <a:xfrm>
            <a:off x="228600" y="282730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A78BFA"/>
                </a:solidFill>
              </a:rPr>
              <a:t>AI LAYER  —  LangChain RAG  ·  GPT-4o  ·  Vector Store (Chroma / Pinecone)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137160" y="3772022"/>
            <a:ext cx="8869680" cy="256032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2" name="Text 70"/>
          <p:cNvSpPr/>
          <p:nvPr/>
        </p:nvSpPr>
        <p:spPr>
          <a:xfrm>
            <a:off x="228600" y="380859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DD4BF"/>
                </a:solidFill>
              </a:rPr>
              <a:t>DATABASE  —  Supabase PostgreSQL  ·  Row-Level Security  ·  Storage Buckets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526280" y="1642616"/>
            <a:ext cx="0" cy="82296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74" name="Shape 72"/>
          <p:cNvSpPr/>
          <p:nvPr/>
        </p:nvSpPr>
        <p:spPr>
          <a:xfrm>
            <a:off x="4526280" y="2487498"/>
            <a:ext cx="0" cy="82296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75" name="Shape 73"/>
          <p:cNvSpPr/>
          <p:nvPr/>
        </p:nvSpPr>
        <p:spPr>
          <a:xfrm>
            <a:off x="4526280" y="3629600"/>
            <a:ext cx="0" cy="82296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arrow"/>
          </a:ln>
        </p:spPr>
        <p:txBody>
          <a:bodyPr/>
          <a:lstStyle/>
          <a:p>
            <a:endParaRPr lang="en-TH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959</Words>
  <Application>Microsoft Macintosh PowerPoint</Application>
  <PresentationFormat>On-screen Show (16:9)</PresentationFormat>
  <Paragraphs>335</Paragraphs>
  <Slides>6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Luke Benjapattranon</cp:lastModifiedBy>
  <cp:revision>3</cp:revision>
  <dcterms:created xsi:type="dcterms:W3CDTF">2026-05-15T09:44:11Z</dcterms:created>
  <dcterms:modified xsi:type="dcterms:W3CDTF">2026-05-20T13:18:17Z</dcterms:modified>
</cp:coreProperties>
</file>